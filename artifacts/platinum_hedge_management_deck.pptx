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6" r:id="rId37"/>
    <p:sldId id="287" r:id="rId38"/>
    <p:sldId id="288" r:id="rId39"/>
    <p:sldId id="289" r:id="rId40"/>
    <p:sldId id="290" r:id="rId41"/>
    <p:sldId id="291" r:id="rId42"/>
    <p:sldId id="293" r:id="rId44"/>
    <p:sldId id="294" r:id="rId45"/>
    <p:sldId id="295" r:id="rId46"/>
    <p:sldId id="296" r:id="rId47"/>
    <p:sldId id="277" r:id="rId28"/>
    <p:sldId id="278" r:id="rId29"/>
    <p:sldId id="279" r:id="rId30"/>
    <p:sldId id="280" r:id="rId31"/>
    <p:sldId id="281" r:id="rId32"/>
    <p:sldId id="292" r:id="rId43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0.xml"/><Relationship Id="rId36" Type="http://schemas.openxmlformats.org/officeDocument/2006/relationships/slide" Target="slides/slide4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3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MANAGEMENT FEEDBACK   ·   PLATINUM HEDGING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22262A"/>
                </a:solidFill>
                <a:latin typeface="Calibri"/>
              </a:rPr>
              <a:t>Hedging the Platinum Prepay / Offtake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1055096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A dynamic-programming hedge for a 3-month LBMA platinum average-price swap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4-year (48-trade) walk-forward, corridor-controlled variance, results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+$22/oz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edge, 48 trades (2020–2023)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48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trades inside the causal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less variance from the shipped delta corridor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8"/>
                </a:solidFill>
                <a:latin typeface="Calibri"/>
              </a:rPr>
              <a:t>Quant Hedging  ·  2026-07-17  ·  All figures recomputed from committed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ASK, AND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Can we systematically hedge the book and keep the dealer margin?  Yes — proven over four years (2020–2023, 48 trades). Every number is traceable to an artifact.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3A42"/>
                </a:solidFill>
                <a:latin typeface="Calibri"/>
              </a:rPr>
              <a:t>THE RULE:  single months are directional-overlay noise (std ≈ $80/oz). Only the 48-trade MEAN is reproducible — and it equals the locked margin, not a market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artifacts/walk_forward/full48_baseline.csv · full48_corridor_rolls.csv · paired stats + 20k bootstrap recomputed here.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11680"/>
          <a:ext cx="11055096" cy="3383280"/>
        </p:xfrm>
        <a:graphic>
          <a:graphicData uri="http://schemas.openxmlformats.org/drawingml/2006/table">
            <a:tbl>
              <a:tblPr/>
              <a:tblGrid>
                <a:gridCol w="4645152"/>
                <a:gridCol w="4645152"/>
                <a:gridCol w="1764792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Walk-forward 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monthly trades · Jan-2020 – Dec-2023 (incl. 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edge — ensemble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+22.09 $/oz   (std 88.2 ; SE ±12.7)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Shipping config — delta corridor (band 0.60)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+23.10 $/oz   (std 60.4)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corridor_rolls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difference, shipping vs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+1.0 $/oz · t = 0.16  (statistically zero)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paired · 48 mo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Proven corridor contribution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variance −32%  (100% of 20k paired bootstraps)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Causal-bound discipline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 PASS · 0 corridor breaches in 144 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both CSVs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What the mean 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the locked dealer margin + basis carry — not a market call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lf2 panel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LAYERED BY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deck deepens as it goes. Stop wherever the detail exceeds your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Executive → increasingly detailed → quant-grade, ending in pseudo-code and a reproducibility manifest.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57400"/>
          <a:ext cx="11055096" cy="4343400"/>
        </p:xfrm>
        <a:graphic>
          <a:graphicData uri="http://schemas.openxmlformats.org/drawingml/2006/table">
            <a:tbl>
              <a:tblPr/>
              <a:tblGrid>
                <a:gridCol w="1545336"/>
                <a:gridCol w="6858000"/>
                <a:gridCol w="2651760"/>
              </a:tblGrid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 – 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Executive — the ask and the answer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Decision-makers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trade and why hedging it is hard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Methodology: data → decomposition → model → guard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product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12 – 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solver and the verification machinery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Results: 2-year interim — headline, stability, attribution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22 – 27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Four-year walk-forward &amp; variance control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28 – 31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Model upgrade — GARCH world: validation, operating point &amp; tail diagnosis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32 – 34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Integrity: how we caught our own too-good result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35 – 36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Caveats and recommended next steps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38 – 41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 appendix: equations, pseudo-code, manifest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 3-month average-price platinum swap, hedged with exchange futures.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  (USD /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3-month arithmetic average-price swap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2,500 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fair − $8 / oz   (the dealer margin)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Hedge instruments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front-3 CME platinum futures  (50 oz / contract)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constraint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short-only, total cap 50 contracts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Transaction 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half of a 10 bps bid/offer on notional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Fixture: tests/fixtures/policy_test_simulate_only.json · per-leg strike lives in Fixed_Basis, never hardcoded.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Why a static short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Three structural frictions make a fixed hedge ratio leak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Two clocks.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prices off the LBMA 2 pm fix; the hedge trades CME futures. They are not the same price at the same instant — the fix reads CME roughly 19 hours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Basis risk.  </a:t>
            </a:r>
            <a:r>
              <a:rPr sz="1700">
                <a:solidFill>
                  <a:srgbClr val="22262A"/>
                </a:solidFill>
                <a:latin typeface="Calibri"/>
              </a:rPr>
              <a:t>LBMA minus the CME continuous spot has σ ≈ 16.5 $/oz and mean-reverts. A fixed hedge ratio leaves this un-neutralised.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Average-price optionality.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references a 3-month average, so hedge sensitivity decays deterministically as fixings accrue — the correct hedge ratio changes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The optimal hedge is dynamic and basis-aware — exactly what a static lock cannot deliver.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Raw data → clean decomposition → identified joint law → simulated world → frozen policy → realized-path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pl_exp.csv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4476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780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780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Decompose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carry · spot · basis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8328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4632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632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632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Identify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κ = 1 − 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8484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8484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8484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Calibrate world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HMM + AR(1) basis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2336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2336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Solve &amp; FREEZE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policy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9884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8618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618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18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Roll on the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REALIZED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B3A42"/>
                </a:solidFill>
                <a:latin typeface="Calibri"/>
              </a:rPr>
              <a:t>The next five slides walk this pipeline left to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data — one archive, fully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model input comes from a single committed CSV.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2432121"/>
                <a:gridCol w="86229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data/pl_exp.csv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3,856 daily observations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2009 – 2025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Futures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CME PL1 / PL2 / PL3 settles + open interest + contract τ and expiries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full USD-SOFR zero curve (48 tenors)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data/pl_exp.csv — 3,856 rows confirmed by wc -l (header + 3,856).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clean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Strip the observable prices into three economically-clean state variables.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4" cy="2267712"/>
        </p:xfrm>
        <a:graphic>
          <a:graphicData uri="http://schemas.openxmlformats.org/drawingml/2006/table">
            <a:tbl>
              <a:tblPr/>
              <a:tblGrid>
                <a:gridCol w="3095426"/>
                <a:gridCol w="4643140"/>
                <a:gridCol w="33165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 (measured)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Calendar carry  c₁₂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ln(F2/F1)/(τ2−τ1) − forward SOFR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autocorr 0.97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CME continuous spot  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F1 · exp(−(rf + c)·τ1)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the tradeable primary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Basis  b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LBMA fix − 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σ 16.50, level autocorr 0.34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Carry is near-permanent (autocorr 0.97); the basis is a fast, mean-reverting echo (σ 16.5). These are the only moving parts the hedge must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basis std 16.50, level autocorr 0.336.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key empirical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One number, measured two independent ways, agrees — so the joint law is identified, not fitted.</a:t>
            </a:r>
          </a:p>
        </p:txBody>
      </p:sp>
      <p:pic>
        <p:nvPicPr>
          <p:cNvPr id="7" name="Picture 6" descr="deck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035040" cy="4262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Catch-up.  </a:t>
            </a:r>
            <a:r>
              <a:rPr sz="1500">
                <a:solidFill>
                  <a:srgbClr val="22262A"/>
                </a:solidFill>
                <a:latin typeface="Calibri"/>
              </a:rPr>
              <a:t>Regress dS(t+1) on the CME−fix gap → κ = 0.647/day (t = +51).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Reversion.  </a:t>
            </a:r>
            <a:r>
              <a:rPr sz="1500">
                <a:solidFill>
                  <a:srgbClr val="22262A"/>
                </a:solidFill>
                <a:latin typeface="Calibri"/>
              </a:rPr>
              <a:t>Basis AR(1) autocorr → 1 − φ = 0.66.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They match.  </a:t>
            </a:r>
            <a:r>
              <a:rPr sz="1500">
                <a:solidFill>
                  <a:srgbClr val="22262A"/>
                </a:solidFill>
                <a:latin typeface="Calibri"/>
              </a:rPr>
              <a:t>CME is the price; the fix reads it ~19 h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And CME is a martingale.  </a:t>
            </a:r>
            <a:r>
              <a:rPr sz="1500">
                <a:solidFill>
                  <a:srgbClr val="22262A"/>
                </a:solidFill>
                <a:latin typeface="Calibri"/>
              </a:rPr>
              <a:t>dF(t+1) on b: |t| &lt; 1 — no executable drift to farm.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κ 0.647 (t +51.4), 1−φ 0.664, martingale dF~b slope 0.014 (|t| 0.7).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Model structure — drift where it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tradeable leg is a martingale; the catch-up drift lives on the fixing leg the swap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77B4"/>
                </a:solidFill>
                <a:latin typeface="Calibri"/>
              </a:rPr>
              <a:t>CommodityPrice.PLATINUM_CME = P  (martingale 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Regime-switching HMM, 3 regimes (crash μ = −0.33, sane on the CME series). The futures reference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290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CA02C"/>
                </a:solidFill>
                <a:latin typeface="Calibri"/>
              </a:rPr>
              <a:t>CommodityBasis.LME_CME = b  (AR(1) vs P, σ 16.5)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fast mean-reverting echo between the exchange and the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E0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06A0A"/>
                </a:solidFill>
                <a:latin typeface="Calibri"/>
              </a:rPr>
              <a:t>Observable LBMA fixing  S = P + b  (composed)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swap references this — so it inherits the catch-up. The hedge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310896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Before the fix, the basis drift sat on the TRADEABLE leg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so the solver farmed a reversion that is unexecutable in reality.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(See the integrity section.)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MarketDataRF_platinum_calibrated_cme.json · calibrated on the CME series (crash μ −0.33 vs pathological −3.66 on LBMA).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standing guard at every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one question asked of every calibration: is there executable drift on the tradeables? There must not be.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2194560"/>
        </p:xfrm>
        <a:graphic>
          <a:graphicData uri="http://schemas.openxmlformats.org/drawingml/2006/table">
            <a:tbl>
              <a:tblPr/>
              <a:tblGrid>
                <a:gridCol w="5085344"/>
                <a:gridCol w="2432121"/>
                <a:gridCol w="35376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E[dF | b] on CME  (martingale)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slope 0.014,  |t| = 0.7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Catch-up on the fixing leg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 ≈ −45 to −51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Basis 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16.5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3A42"/>
                </a:solidFill>
                <a:latin typeface="Calibri"/>
              </a:rPr>
              <a:t>If any future shows tradeable drift, the calibration is REJECTED before a single solve. This is the guard that a prior model version lacked.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Guard asserts executed green in platinum_hedge_validation.ipynb; recomputed dF~b |t|=0.7 on data/pl_exp.csv.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solver,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Backward dynamic programming with a learned, position-free value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Work backwards from expiry.  </a:t>
            </a:r>
            <a:r>
              <a:rPr sz="1600">
                <a:solidFill>
                  <a:srgbClr val="22262A"/>
                </a:solidFill>
                <a:latin typeface="Calibri"/>
              </a:rPr>
              <a:t>Each day, ask: given today's market and book, which hedge maximises expected end-of-deal utility?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Position-free continuation.  </a:t>
            </a:r>
            <a:r>
              <a:rPr sz="1600">
                <a:solidFill>
                  <a:srgbClr val="22262A"/>
                </a:solidFill>
                <a:latin typeface="Calibri"/>
              </a:rPr>
              <a:t>C_t(market, W) = u(W) + A_t(market, W) is learned by a small net per timestep (~1.4k params). Position-free, so one fit serves every candidate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The choice sits outside the net.  </a:t>
            </a:r>
            <a:r>
              <a:rPr sz="1600">
                <a:solidFill>
                  <a:srgbClr val="22262A"/>
                </a:solidFill>
                <a:latin typeface="Calibri"/>
              </a:rPr>
              <a:t>The Bellman max is an explicit search over an allowed action grid — respecting the 50-contract cap and short-only rule — not baked into the fitted value.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Train, then freeze.  </a:t>
            </a:r>
            <a:r>
              <a:rPr sz="1600">
                <a:solidFill>
                  <a:srgbClr val="22262A"/>
                </a:solidFill>
                <a:latin typeface="Calibri"/>
              </a:rPr>
              <a:t>The policy is trained in the calibrated simulated world and then FROZEN before it ever touches realized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utility: hedge_bundle._utility_wrap_signed (single source of truth).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objective: downside-asymmetric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optimise utility, not raw P&amp;L — and aversion is the single tuned lever.</a:t>
            </a:r>
          </a:p>
        </p:txBody>
      </p:sp>
      <p:pic>
        <p:nvPicPr>
          <p:cNvPr id="7" name="Picture 6" descr="deck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6309360" cy="392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62A"/>
                </a:solidFill>
                <a:latin typeface="Calibri"/>
              </a:rPr>
              <a:t>Aversion sweep  (mean net $/oz)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514600"/>
          <a:ext cx="45720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Aversion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+4.74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net-negative bets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SHIPPED (best)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reproducible gain*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5029200"/>
            <a:ext cx="4663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B3A42"/>
                </a:solidFill>
                <a:latin typeface="Calibri"/>
              </a:rPr>
              <a:t>Gains stay linear (never taxed); small losses curve; the deep tail is linear (no runaway penalty). Raising aversion past 6 buys no reproducible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Full-24 means: av-2.5 baseline source pending recommit (la_attribution.csv) · aversion6_24trade_final.csv (av 6, mean +18.19). * Av 12 = 10-trade sweep subset, Δ within ±$100/oz seed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walk-forward protocol — no lookahead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No lookahead anywhere. This is the defensibility core of the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on data ≤ 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9716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7732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Train 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in sim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FREEZE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324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 day-by-day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REALIZED path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Stamp per-trade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causal bound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42932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094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094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Recalibrate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next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Strictly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Spot history strictly before each trade date; quarterly recalibration on data ≤ calibration date only.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Real accounting.  </a:t>
            </a:r>
            <a:r>
              <a:rPr sz="1550">
                <a:solidFill>
                  <a:srgbClr val="22262A"/>
                </a:solidFill>
                <a:latin typeface="Calibri"/>
              </a:rPr>
              <a:t>Rolled through a real futures stepper: variation margin, financing, per-instrument expiry, forced-flat.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Provably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Decisions run off the stepper's own wealth — bit-identical when the future is erased.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production_walk_forward.py: calibrate → train → freeze → roll. Future-erasure test proves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Verification machinery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run carries its own falsification tests — so a wrong answer trips a wire.</a:t>
            </a:r>
          </a:p>
        </p:txBody>
      </p:sp>
      <p:pic>
        <p:nvPicPr>
          <p:cNvPr id="7" name="Picture 6" descr="deck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400800" cy="3915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Causal ceiling.  </a:t>
            </a:r>
            <a:r>
              <a:rPr sz="1500">
                <a:solidFill>
                  <a:srgbClr val="22262A"/>
                </a:solidFill>
                <a:latin typeface="Calibri"/>
              </a:rPr>
              <a:t>Per trade: unhedged + perfect-foresight harvest on the traded strip. 48/48 trades (both runs) inside.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Acceptance ladder.  </a:t>
            </a:r>
            <a:r>
              <a:rPr sz="1500">
                <a:solidFill>
                  <a:srgbClr val="22262A"/>
                </a:solidFill>
                <a:latin typeface="Calibri"/>
              </a:rPr>
              <a:t>Checked per run: hindsight ≥ greedy ≥ textbook.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Bitwise anchors.  </a:t>
            </a:r>
            <a:r>
              <a:rPr sz="1500">
                <a:solidFill>
                  <a:srgbClr val="22262A"/>
                </a:solidFill>
                <a:latin typeface="Calibri"/>
              </a:rPr>
              <a:t>Fixture V_0 and stepper floats are byte-locked; any code change that moves them fails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Both CSVs: bound_pass = True on 24/24 rows. Bit-gates: fixture V_0 + stepper floats (349-test suite).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Headline results — 2-year interim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2-year interim result (Jan-2021 – Dec-2022). Two independent re-runs; the four-year update follows in the next section.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4" cy="3950208"/>
        </p:xfrm>
        <a:graphic>
          <a:graphicData uri="http://schemas.openxmlformats.org/drawingml/2006/table">
            <a:tbl>
              <a:tblPr/>
              <a:tblGrid>
                <a:gridCol w="4422038"/>
                <a:gridCol w="3316528"/>
                <a:gridCol w="331652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A  (goal)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B  (re-verify)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Mean 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+10.33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-166.14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-106.79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+214.80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+238.05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92.73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87.18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Positive trades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Unhedged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aversion6_24trade_final.csv (Run A) · aversion6_reverify_committed_pipeline.csv (Run B). Same realized path; fresh calibration + RNG in 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Cumulative edge over 24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hedged book compounds a positive edge; the unhedged book drifts negative.</a:t>
            </a:r>
          </a:p>
        </p:txBody>
      </p:sp>
      <p:pic>
        <p:nvPicPr>
          <p:cNvPr id="7" name="Picture 6" descr="deck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15" y="1874519"/>
            <a:ext cx="7200984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3A42"/>
                </a:solidFill>
                <a:latin typeface="Calibri"/>
              </a:rPr>
              <a:t>Cumulative net P&amp;L over the 24 monthly trades:   DP hedge +437 $/oz    vs    unhedged −61 $/oz.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Cumulative sums of the greedy and unhedged columns, aversion6_24trade_final.csv.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Month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Individual months are dominated by seed noise (±$100/oz). Do not read single months.</a:t>
            </a:r>
          </a:p>
        </p:txBody>
      </p:sp>
      <p:pic>
        <p:nvPicPr>
          <p:cNvPr id="7" name="Picture 6" descr="deck_per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4" y="1920240"/>
            <a:ext cx="952786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Per-month greedy and unhedged $/oz, aversion6_24trade_final.csv. Dashed lines = 24-trade means.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Reproducibility — quote means, never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mean reproduces to ±$1/oz across independent pipelines; single months do not.</a:t>
            </a:r>
          </a:p>
        </p:txBody>
      </p:sp>
      <p:pic>
        <p:nvPicPr>
          <p:cNvPr id="7" name="Picture 6" descr="dec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831451" cy="4434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4688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Means agree.  </a:t>
            </a:r>
            <a:r>
              <a:rPr sz="1550">
                <a:solidFill>
                  <a:srgbClr val="22262A"/>
                </a:solidFill>
                <a:latin typeface="Calibri"/>
              </a:rPr>
              <a:t>Run A +18.19, Run B +17.58; difference -0.61 $/oz.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Months do not.  </a:t>
            </a:r>
            <a:r>
              <a:rPr sz="1550">
                <a:solidFill>
                  <a:srgbClr val="22262A"/>
                </a:solidFill>
                <a:latin typeface="Calibri"/>
              </a:rPr>
              <a:t>Sign agreement only 12/24; max month-level gap 240 $/oz.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Implication.  </a:t>
            </a:r>
            <a:r>
              <a:rPr sz="1550">
                <a:solidFill>
                  <a:srgbClr val="22262A"/>
                </a:solidFill>
                <a:latin typeface="Calibri"/>
              </a:rPr>
              <a:t>A single month is a draw from a ±$100/oz distribution. The 24-trade mean is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Run A vs Run B per trade, both walk-forward CSVs. Δmean −0.61, sign-agreement 12/24, max|Δ| 240 $/oz.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Attribution — the lever is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edge comes from downside aversion, not from trading more.</a:t>
            </a:r>
          </a:p>
        </p:txBody>
      </p:sp>
      <p:pic>
        <p:nvPicPr>
          <p:cNvPr id="7" name="Picture 6" descr="dec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267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Baseline (av 2.5)  +4.74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=  full-lock 15.25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active bets 4.43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excess churn 6.08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Raise Huber aversion → 6: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+13.45  →  +18.19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Losers recovered hard;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winners kept ~all.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av-2.5 baseline: source pending recommit (la_attribution.csv) + aversion6_24trade_final.csv (aversion 6, mean +18.19).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DP hedge beats the static full-lock on mean, with managed dispersion.</a:t>
            </a:r>
          </a:p>
        </p:txBody>
      </p:sp>
      <p:pic>
        <p:nvPicPr>
          <p:cNvPr id="7" name="Picture 6" descr="dec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22291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Static full-lock, verified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through the REAL stepper: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+15.25 net 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   margin 8.00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 realized basis drift 8.29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−  lock cost 1.01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Full-lock verified through the real stepper. Benchmarks frictionless; net-of-cost reported uniformly. Full-lock decomposition (+15.25) source pending recommit (la_attribution.csv).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Four-year walk-forward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Jan-2020 through Dec-2023, including the COVID-2020 shock. The 24-month result becomes an interim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3017520"/>
                <a:gridCol w="1783080"/>
                <a:gridCol w="17830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 baseline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Corridor 0.60 (shipped-interim)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Mean ($/oz)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+7.83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+16.57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breaches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 / 144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2606040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 mean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2020 stayed positive through the crash · 2022 the flat year (margins compressed) · 2023 strongest.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artifacts/walk_forward/full48_baseline.csv · full48_corridor_rolls.csv. Every row bounded below by no-hedge, above by perfect-foresight on the traded leg.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What four years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Three findings that shape how the result is read and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policy = a locked-margin hedge + a zero-mean overlay.  </a:t>
            </a:r>
            <a:r>
              <a:rPr sz="1550" b="0">
                <a:solidFill>
                  <a:srgbClr val="22262A"/>
                </a:solidFill>
                <a:latin typeface="Calibri"/>
              </a:rPr>
              <a:t>On the 40-month attribution panel the hedge earns the locked margin (+17.2 $/oz); the directional overlay adds +2.4 $/oz — statistically zero (t ≈ 0.2) — but swings ≈ ±$79/oz per month. So single months are noise; only the 48-trade mean is ever quoted.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Roll-month dispersion is Monte-Carlo forecast noise, not model variance.  </a:t>
            </a:r>
            <a:r>
              <a:rPr sz="1550" b="0">
                <a:solidFill>
                  <a:srgbClr val="22262A"/>
                </a:solidFill>
                <a:latin typeface="Calibri"/>
              </a:rPr>
              <a:t>Raising the roll-time inner batch 64 → 512 collapsed per-month seed dispersion 168.5 → 62.9 $/oz (−63%, the √8 Monte-Carlo rate). Methodology hardening, now standard.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2022 was a flat year, not a model failure.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baseline mean dipped to −4.5 $/oz — the weakest of the four — as dealer margins compressed, yet 12/12 trades stayed causally bounded. 2020 rode the COVID crash to +27.5; 2023 was strongest at +41.1.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lf2_forensics.csv (40-mo attribution) · full48_baseline.csv (per-year). Roll-inner dispersion from the walk-forward ensemble methodology (roll-inner 512).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delta corridor — a fence we know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average-price swap’s hedge ratio is deterministic at trade date. We fence the book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Known delta ramp.  </a:t>
            </a:r>
            <a:r>
              <a:rPr sz="1550" b="0">
                <a:solidFill>
                  <a:srgbClr val="22262A"/>
                </a:solidFill>
                <a:latin typeface="Calibri"/>
              </a:rPr>
              <a:t>For a 3-month average-price swap the hedge delta is deterministic: full cover before the averaging window, then declining linearly to zero as fixings accumulate. No forecast required.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corridor.  </a:t>
            </a:r>
            <a:r>
              <a:rPr sz="1550" b="0">
                <a:solidFill>
                  <a:srgbClr val="22262A"/>
                </a:solidFill>
                <a:latin typeface="Calibri"/>
              </a:rPr>
              <a:t>We fence the signed total position to that ramp ± a band, enforced inside the decision grid (HedgeActionSpace.grid_at) so every action the solver can take already obeys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Live-aware near expiry.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fence shortens on live legs, so realized positions can never breach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Result.  </a:t>
            </a:r>
            <a:r>
              <a:rPr sz="1550" b="0">
                <a:solidFill>
                  <a:srgbClr val="22262A"/>
                </a:solidFill>
                <a:latin typeface="Calibri"/>
              </a:rPr>
              <a:t>0 breaches across all 144 validation rolls (48 trades × 3 bands). Infeasible schedules fail 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331720"/>
            <a:ext cx="3895344" cy="310896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THE RAMP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Full short before averaging starts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↓  linear decay across the fixings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→  zero at expiry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Net position held within ± band of that path — decided, not predicted.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Enforced once in HedgeActionSpace.grid_at(t); driver flag --delta-corridor BAND. full48_corridor_rolls.csv: breaches = 0 in every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corridor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Tighter bands trade a little mean for a lot less variance. Band 0.60 is the shipped-interim point; slides 30–31 recommend tightening to 0.15.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5096" cy="265176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 vs base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−83.48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0.60  (shipped-interim)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−52.58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−32%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47.42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−72.18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−33.12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−46%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0.25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38.16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−66.21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74920"/>
            <a:ext cx="110550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0">
                <a:solidFill>
                  <a:srgbClr val="22262A"/>
                </a:solidFill>
                <a:latin typeface="Calibri"/>
              </a:rPr>
              <a:t>All bands: 48/48 causal-bound PASS, 0 breaches. Band 0.60 Pareto-dominates the baseline — higher mean, lower std. Band 0.40 is available where the mandate wants a deeper risk cut (−46%).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artifacts/walk_forward/full48_corridor_rolls.csv · full48_baseline.csv (48 trades each). p10 = 10th percentile of realized $/oz.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A risk control, not a P&amp;L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Management-grade honesty: the mean differences are noise; the variance ordering is certain.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 differences are noise.  </a:t>
            </a:r>
            <a:r>
              <a:rPr sz="1550" b="0">
                <a:solidFill>
                  <a:srgbClr val="22262A"/>
                </a:solidFill>
                <a:latin typeface="Calibri"/>
              </a:rPr>
              <a:t>Band 0.60 vs unfenced: paired Δ = +1.0 $/oz, SE 6.2, t = 0.16. Band 0.40 vs 0.60: Δ = −4.5 ± 2.9, t = −1.5. Neither is distinguishable from zero.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variance cut is certain.  </a:t>
            </a:r>
            <a:r>
              <a:rPr sz="1550" b="0">
                <a:solidFill>
                  <a:srgbClr val="22262A"/>
                </a:solidFill>
                <a:latin typeface="Calibri"/>
              </a:rPr>
              <a:t>std(fenced) &lt; std(unfenced) in 100% of 20,000 paired bootstraps, for every band.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Where the P&amp;L comes from.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locked dealer margin, not a market view. A configuration that reliably predicted a month’s direction would be the phantom-alpha bug we eliminated in the integrity review — the corrected world is built E[dF] = 0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THE MESSAGE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The corridor is insurance on the variance —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priced at ≈ $0 of expected P&amp;L.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That is exactly what a martingale-disciplined model must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Paired stats and 20k paired bootstrap (seed 12345) recomputed from full48_baseline.csv + full48_corridor_rolls.csv.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One model serves any mandate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We retrained the whole stack inside the fence. It changed nothing —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1105509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Train-inside-the-fence = train-then-fence.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Retraining the full solver inside the corridor reproduced the roll-time-fence trajectories bit-for-bit (L1 = 0.0; e.g. 202105 wT = −$60,552.66 both ways, 202102 wT = +$326,660.72 both ways). In-sim utility moved by ≈ 2×10⁻⁵ (noise).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Deployment consequence.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One corridor-free checkpoint set covers every mandate band; fences are applied at roll time against provenance-checked artifacts. No per-client retraining.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band cannot be timed from inside the model.  </a:t>
            </a:r>
            <a:r>
              <a:rPr sz="1500" b="0">
                <a:solidFill>
                  <a:srgbClr val="22262A"/>
                </a:solidFill>
                <a:latin typeface="Calibri"/>
              </a:rPr>
              <a:t>A fenced-utility selector picks the right band only 29–31% of the time (33% = chance); u-margin vs realized-margin correlation ≈ 0. Consistent with martingale discipline.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prize needs outside information.  </a:t>
            </a:r>
            <a:r>
              <a:rPr sz="1500" b="0">
                <a:solidFill>
                  <a:srgbClr val="22262A"/>
                </a:solidFill>
                <a:latin typeface="Calibri"/>
              </a:rPr>
              <a:t>Hindsight-optimal per-month band selection over {0.40, 0.60, unfenced} would have returned +43.6 $/oz vs +23.1 shipped — ≈ +20/oz of headroom, reachable only with genuine external signal (see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tb_insim_202105_b040.json · tb_insim_202102_b040.json · train_in_corridor_subset.csv · adaptive_corridor_sweep.csv / _verdict.md.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Observable volatility replaces an inferred regime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48-trade walk-forward is COMPLETE. GARCH(1,1) with Student-t shocks replaces the 3-regime hidden-Markov world — a governance and robustness upgrade, not a P&amp;L 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6903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Sharply identified on 16 years of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GARCH parameters are pinned by the sample: β = 0.964 (t = 72), ν = 7.50 (t = 9.2). The HMM's rare crash regime never was — it is precisely the parameter 16 years of daily data cannot see.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The no-alpha property is now testable in log AND price space.  </a:t>
            </a:r>
            <a:r>
              <a:rPr sz="1350" b="0">
                <a:solidFill>
                  <a:srgbClr val="22262A"/>
                </a:solidFill>
                <a:latin typeface="Calibri"/>
              </a:rPr>
              <a:t>With volatility observed, E[return | volatility state] = 0 holds in log space. A post-review price-space check then caught what the log test was structurally blind to — a +4.16%/yr Jensen price-drift on the tradeable spot (E[dS/S] ≈ ½·h) — removed via Convexity_Correction, so E[dF] ≈ 0 is now assertable in PRICE space too. Verified P&amp;L-neutral (paired +1.31 ± 1.10; no walk-forward number changes). The integrity discipline (slides 32–34) working.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One observed number replaces three inferred beliefs.  </a:t>
            </a:r>
            <a:r>
              <a:rPr sz="1350" b="0">
                <a:solidFill>
                  <a:srgbClr val="22262A"/>
                </a:solidFill>
                <a:latin typeface="Calibri"/>
              </a:rPr>
              <a:t>Volatility is a deterministic recursion on realized returns — no filter, so no filter misspecification on real data. The hedger conditions on a measured state, not an estimated one (market_dim 7 vs 9).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Swapped by one line of market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calculation stack was generalized to a model-agnostic protocol: the spot model changes via the MarketData file, with no code change, proven by a committed both-worlds test (HMM bit-identical). An independent audit caught a clock bug pre-commit — per-business-day volatility injected on a calendar-daily grid, inflating vol ×1.20 — now fixed and gated by regression tests. 349 tests green.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VERDICT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All 48 trades are in. Integrity gates PASS; performance gates are NEUTRAL — the means are statistically indistinguishable (paired t = −0.71 unfenced).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No performance-forced flip. GARCH is recommended on governance grounds — an observable volatility state, a no-alpha property testable in log and price space, and market_dim 7 vs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GARCHSpotModel_spec.md (§1, §1a, §6) · commits c52411d · 11ef68d · parameters fitted on data/pl_exp.csv (16 years). Final 48-trade walk-forward: artifacts/walk_forward/garch48_final.csv. Driftless price-martingale fix: commits c23d4aa · 5e4e041 · 4f08450 · driftless_subset_paired.csv (P&amp;L within noise, no restatement).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Final results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COMPLETE. Paired on all 48 months (Jan-2020 – Dec-2023), unfenced and inside the shipped corridor at bands 0.60 and 0.40.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1965960"/>
                <a:gridCol w="196596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 world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 world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— mean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+19.21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— std dev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82.6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0.60 — mean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+22.86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0.40 —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 (all)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Paired Δ unfenced (G−H)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−2.89 ± 4.05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 = −0.71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Paired Δ fenced 0.60 /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−0.24 / +0.05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 = −0.06 / +0.02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1691640"/>
                <a:gridCol w="1261872"/>
                <a:gridCol w="1261872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+32.03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  (12 mo)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+15.55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−5.88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  (12 mo)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+35.13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ALL YEARS COMPLETE — each row is now a full 12 months, directly comparable to the four-year baseline (slides 21–22). GARCH and HMM track within a year's noise; 2022 was the weak year in both worlds.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artifacts/walk_forward/garch48_final.csv (48) vs full48_baseline.csv, paired on all 48 months; corridor rows from garch48_corridor_rolls.csv · full48_corridor_rolls.csv. Every row bounded below by no-hedge, above by perfect-foresight on the traded leg.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1500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THE READING: the fence dominates the model. Swapping the spot model moves the mean nothing at n = 48 (paired t = −0.71 unfenced, ≈ 0 inside the corridor). The corridor's variance cut — std −27% at 0.60, −41% at 0.40 — is model-agnostic: it shows up identically in both worlds.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Controlling the tail — the operating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loss tail is a half-hedged book, not a set of mistakes — now PROVEN (next slide): coverage ≈ 0.40 is utility-optimal, so the fence is a structural mandate, not a preference. Tightening the roll-time band cuts dispersion with no retraining and no breaches.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artifacts/walk_forward/corridor_band_frontier.csv (both worlds, bands 0.15–0.60) · garch48_corridor_rolls.csv. Loss-tail analysis: commit 5e61ae5. CVaR5 = mean of the worst 3 months; worst month = min realized $/oz.  Net of realistic cost: net_of_cost_frontier.csv · cost_model_realistic.json (commits 3073bf0 · 8483956).  Under-hedge diagnosis: underhedge_probes.csv (commit c6c7706).</a:t>
            </a:r>
          </a:p>
        </p:txBody>
      </p:sp>
      <p:graphicFrame>
        <p:nvGraphicFramePr>
          <p:cNvPr id="950" name="FrontierTable"/>
          <p:cNvGraphicFramePr>
            <a:graphicFrameLocks noGrp="1"/>
          </p:cNvGraphicFramePr>
          <p:nvPr/>
        </p:nvGraphicFramePr>
        <p:xfrm>
          <a:off x="566928" y="2103120"/>
          <a:ext cx="11055096" cy="192024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Roll-time band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/ 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CVaR5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Worst month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0.60  (shipped)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+22.86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−79.9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−81.4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+21.91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57.2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−77.0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−81.2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48.6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−64.3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−80.9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+17.15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39.2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−47.9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−55.0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37.9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−47.5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−55.9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0.15  (recommended)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+17.40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31.3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0.557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−40.9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−57.7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51" name="TextBox 950"/>
          <p:cNvSpPr txBox="1"/>
          <p:nvPr/>
        </p:nvSpPr>
        <p:spPr>
          <a:xfrm>
            <a:off x="566928" y="4133087"/>
            <a:ext cx="110550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RECOMMENDATION — tighten the roll-time band 0.60 → 0.15.  </a:t>
            </a:r>
            <a:r>
              <a:rPr sz="1350">
                <a:solidFill>
                  <a:srgbClr val="22262A"/>
                </a:solidFill>
                <a:latin typeface="Calibri"/>
              </a:rPr>
              <a:t>Mean / std roughly doubles (0.38 → 0.56), CVaR5 halves (−80 → −41), worst month −81 → −58 — with no retraining, 0 breaches and 48/48 causal-bound PASS at every band. The fence is the only lever that raises coverage (next slide) — a structural mandate, not variance-trimming.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566928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B03A2E"/>
                </a:solidFill>
                <a:latin typeface="Calibri"/>
              </a:rPr>
              <a:t>CAVEAT 1  ·  THE MEAN IS NOISE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The ≈−1.8/oz give-back at 0.15 is statistically indistinguishable from zero (95% CI [−22, +18]); 0.15 owning the best mean among tight bands is noise. The robust fact is the monotone std / CVaR ordering — the variance cut is certain (P(std lower) = 1.00).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6272784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1F77B4"/>
                </a:solidFill>
                <a:latin typeface="Calibri"/>
              </a:rPr>
              <a:t>CONFIRMED  ·  NET OF REALISTIC COST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Re-verified net of a maturity/vol cost model — M1/M2/M3 = 6/11/34 bps from open interest, plus a margin-funding term. Under BOTH a base and a stressed cost case, band 0.15 stays best risk-adjusted — 18.2 $/oz, std 35, mean/std 0.52, mean/CVaR5 0.41, 48/48 bound-PASS, 0 breaches. Figures are OI/vol proxies pending 2 pm-synced intraday calibration.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566928" y="6089904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B3A42"/>
                </a:solidFill>
                <a:latin typeface="Calibri"/>
              </a:rPr>
              <a:t>Basis is the residual floor:  </a:t>
            </a:r>
            <a:r>
              <a:rPr sz="1150">
                <a:solidFill>
                  <a:srgbClr val="2B3A42"/>
                </a:solidFill>
                <a:latin typeface="Calibri"/>
              </a:rPr>
              <a:t>as the fence tightens, basis–P&amp;L correlation rises to +0.72 at band 0.15 (≈79% of the residual std is basis). A CME-only hedge cannot hedge LME basis, so ≈25 $/oz of std is a wall no band can cross.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FINAL VALIDATION &amp; OPERATING POINT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under-coverage is optimal, not a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Coverage ≈ 0.40 behind the loss tail is the utility-optimal policy of a terminal-wealth utility in a driftless martingale world — no objective, training, or cost lever raises it. The remaining fix space is structural.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artifacts/walk_forward/underhedge_probes.csv (34 probes · commit c6c7706): pre-fixing coverage u ≈ 0.36 loser / 0.62 winner; every non-structural lever falsified. Driftless world E[dF] ≈ 0 in price space (commit 4f08450).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566928" y="214884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Objective aversion 6 → {2, 24, 100}:  </a:t>
            </a:r>
            <a:r>
              <a:rPr sz="1350">
                <a:solidFill>
                  <a:srgbClr val="22262A"/>
                </a:solidFill>
                <a:latin typeface="Calibri"/>
              </a:rPr>
              <a:t>coverage moves ≤ +0.06 (max +0.0596).</a:t>
            </a:r>
          </a:p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Huber δ · training inner-batch · action-grid:  </a:t>
            </a:r>
            <a:r>
              <a:rPr sz="1350">
                <a:solidFill>
                  <a:srgbClr val="22262A"/>
                </a:solidFill>
                <a:latin typeface="Calibri"/>
              </a:rPr>
              <a:t>nil (~0.00).</a:t>
            </a:r>
          </a:p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Roll utility-scale /10, /100:  </a:t>
            </a:r>
            <a:r>
              <a:rPr sz="1350">
                <a:solidFill>
                  <a:srgbClr val="22262A"/>
                </a:solidFill>
                <a:latin typeface="Calibri"/>
              </a:rPr>
              <a:t>bit-identical (Δ = 0.0000).</a:t>
            </a:r>
          </a:p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Cost-aware · spread · roll-inner:  </a:t>
            </a:r>
            <a:r>
              <a:rPr sz="1350">
                <a:solidFill>
                  <a:srgbClr val="22262A"/>
                </a:solidFill>
                <a:latin typeface="Calibri"/>
              </a:rPr>
              <a:t>move month dispersion, not the level — sign flips (loser up, winner down).</a:t>
            </a:r>
          </a:p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Dead objective key (Surplus_Reward):  </a:t>
            </a:r>
            <a:r>
              <a:rPr sz="1350">
                <a:solidFill>
                  <a:srgbClr val="22262A"/>
                </a:solidFill>
                <a:latin typeface="Calibri"/>
              </a:rPr>
              <a:t>bit-identical — confirms it was inert.</a:t>
            </a:r>
          </a:p>
          <a:p>
            <a:r>
              <a:rPr sz="135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All levers combined:  </a:t>
            </a:r>
            <a:r>
              <a:rPr sz="1350">
                <a:solidFill>
                  <a:srgbClr val="22262A"/>
                </a:solidFill>
                <a:latin typeface="Calibri"/>
              </a:rPr>
              <a:t>coverage 0.43 / 0.40 — still ≈ 0.40.</a:t>
            </a:r>
          </a:p>
        </p:txBody>
      </p:sp>
      <p:sp>
        <p:nvSpPr>
          <p:cNvPr id="952" name="Rounded Rectangle 951"/>
          <p:cNvSpPr/>
          <p:nvPr/>
        </p:nvSpPr>
        <p:spPr>
          <a:xfrm>
            <a:off x="566928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1F77B4"/>
                </a:solidFill>
                <a:latin typeface="Calibri"/>
              </a:rPr>
              <a:t>OPTION A  ·  FENCE AS MANDATE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Make roll-time band 0.15 an unconditional mandate — it supplies the coverage the utility will not choose on its own. No retrain; one checkpoint set. This is the deck's standing recommendation, now with a structural justification.</a:t>
            </a:r>
          </a:p>
        </p:txBody>
      </p:sp>
      <p:sp>
        <p:nvSpPr>
          <p:cNvPr id="953" name="Rounded Rectangle 952"/>
          <p:cNvSpPr/>
          <p:nvPr/>
        </p:nvSpPr>
        <p:spPr>
          <a:xfrm>
            <a:off x="6272784" y="4690872"/>
            <a:ext cx="5349240" cy="133502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73152">
            <a:normAutofit/>
          </a:bodyPr>
          <a:lstStyle/>
          <a:p>
            <a:pPr algn="ctr"/>
            <a:r>
              <a:rPr sz="1200" b="1">
                <a:solidFill>
                  <a:srgbClr val="1F77B4"/>
                </a:solidFill>
                <a:latin typeface="Calibri"/>
              </a:rPr>
              <a:t>OPTION B  ·  MIN-VARIANCE OBJECTIVE</a:t>
            </a:r>
          </a:p>
          <a:p>
            <a:r>
              <a:rPr sz="1150">
                <a:solidFill>
                  <a:srgbClr val="2B3A42"/>
                </a:solidFill>
                <a:latin typeface="Calibri"/>
              </a:rPr>
              <a:t>Replace the terminal-wealth Huber with a min-variance / delta-tracking objective shape (Objective.Object). This changes what the solver optimises — a re-solve plus phase-3 validation.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566928" y="6089904"/>
            <a:ext cx="11055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B3A42"/>
                </a:solidFill>
                <a:latin typeface="Calibri"/>
              </a:rPr>
              <a:t>OPEN MANAGEMENT DECISION — not yet made:  </a:t>
            </a:r>
            <a:r>
              <a:rPr sz="1150">
                <a:solidFill>
                  <a:srgbClr val="2B3A42"/>
                </a:solidFill>
                <a:latin typeface="Calibri"/>
              </a:rPr>
              <a:t>aversion within the current utility is exhausted (≤ +0.06), so only a structural change — Option A or B — closes the tail. The driftless-fix world is P&amp;L-neutral, so no walk-forward number restates.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Integrity: how we caught our own too-good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An earlier model version reported +$675/oz — implausible against an $8 margin. We did not ship it. We tried to break it.</a:t>
            </a:r>
          </a:p>
        </p:txBody>
      </p:sp>
      <p:pic>
        <p:nvPicPr>
          <p:cNvPr id="7" name="Picture 6" descr="deck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5" y="1920240"/>
            <a:ext cx="768882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6072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We had already built a hard causal bound (unhedged + perfect-foresight harvest on the traded strip). The +675 result VIOLATED it on multiple months. A number that beats what perfect foresight allows is not a profit — it is a bug. That triggered a forensic tear-down.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Mean causal ceiling ≈ 687 $/oz (mean of pf_bound, aversion6_24trade_final.csv). Old +675 figure is the pre-fix reported mean.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forensic exoneration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localised the error by elimination — accounting and causality were cleared; the model was the culprit.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2267712"/>
        </p:xfrm>
        <a:graphic>
          <a:graphicData uri="http://schemas.openxmlformats.org/drawingml/2006/table">
            <a:tbl>
              <a:tblPr/>
              <a:tblGrid>
                <a:gridCol w="2432121"/>
                <a:gridCol w="4864242"/>
                <a:gridCol w="37587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Stepper accounting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static-short replay through the real stepper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Look-ahead in decisions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future-erasure: erase the future, re-decide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 (bit-identical)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E[dF | b] on the tradeable futures leg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GUILTY:  +0.65·b / day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9160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B52A2A"/>
                </a:solidFill>
                <a:latin typeface="Calibri"/>
              </a:rPr>
              <a:t>Root cause:  the basis's mean-reversion was placed on the TRADEABLE futures leg. The solver — correctly — farmed a drift of +0.65·b per day. But raw CME is a martingale: that drift does not exist in reality, so it is unexecutable.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Root-cause slope E[dF|b] ≈ +0.65·b/day on the mis-specified leg; corrected model measures |t|=0.7 (nil).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fix, and the guards now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Fix the model; then make the same failure impossible to repeat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Composed-spot inversion.  </a:t>
            </a:r>
            <a:r>
              <a:rPr sz="1550">
                <a:solidFill>
                  <a:srgbClr val="22262A"/>
                </a:solidFill>
                <a:latin typeface="Calibri"/>
              </a:rPr>
              <a:t>CME is the martingale primary; the basis and its catch-up live on the fixing leg (the swap), not on the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Bound stamped on every row.  </a:t>
            </a:r>
            <a:r>
              <a:rPr sz="1550">
                <a:solidFill>
                  <a:srgbClr val="22262A"/>
                </a:solidFill>
                <a:latin typeface="Calibri"/>
              </a:rPr>
              <a:t>Every backtest trade now records and asserts the causal-bound check.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Martingale guard at every calibration.  </a:t>
            </a:r>
            <a:r>
              <a:rPr sz="1550">
                <a:solidFill>
                  <a:srgbClr val="22262A"/>
                </a:solidFill>
                <a:latin typeface="Calibri"/>
              </a:rPr>
              <a:t>E[dF|b] ≈ 0 is verified on the tradeables — in both log and price space (the price-space Jensen check added post-review) — before any solve.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Production-trust audit — 7 silent-failure paths closed.  </a:t>
            </a:r>
            <a:r>
              <a:rPr sz="1550">
                <a:solidFill>
                  <a:srgbClr val="22262A"/>
                </a:solidFill>
                <a:latin typeface="Calibri"/>
              </a:rPr>
              <a:t>Fabricated realized tails; silently-random replay on npz typos; NaN-blind flags; non-atomic writes — all now fail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The strongest trust argument is not that the number is big — it is that we built the machinery to catch it when it was too big, and it worked.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Production-trust audit: commit 0e2bd46. Composed-spot wiring: commit 3008d3c.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Caveats —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What this result is NOT. Said openly, because that is the trust argument.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621024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Seed / Monte-Carlo dispersion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Ensemble (3 seeds) + roll-inner 512 collapse month dispersion; only the 48-trade mean is quoted.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Out-of-sample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Now four years (2020–2023) incl. COVID — still not multiple full cycles.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Realistic cost — now calibrated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Net-of-cost verified under an OI/vol-calibrated CME friction model (M1/M2/M3 = 6/11/34 bps); band 0.15 holds. Residual: 2 pm-synced intraday spread capture.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Utility-scale convention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Recently moved to calibration-derived (flagged; explicit override available).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Frictionless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By convention; net-of-cost is reported uniformly across tracks.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None of these overturn the headline mean; each is a scoped item for the next phase.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near-term path to production sign-off; the broader roadmap follows in Future Work.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29184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Adopt band 0.15 as the production point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One checkpoint set serves any mandate band (0.60 shipped-interim, 0.40 available); the tail diagnosis (slide 31) makes 0.15 structural, not a preference.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Intraday friction — final capture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Realistic OI/vol cost model is DONE (band 0.15 holds net of cost); the remainder is 2 pm-synced intraday spread capture.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Guard as a hard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Make E[dF | b] ≈ 0 block a calibration, not merely warn.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of APS + band adaptivity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The two capability steps that follow — detailed in Future Work.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The corridor ships as a risk control today; the hard guard remains a sign-off item. Fence-as-mandate (0.15) vs a min-variance objective (slide 31) is an open management decision.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Eight scoped items, ordered by leverage. The open structural choice on the loss tail — fence-as-mandate vs a min-variance objective — is on slide 31.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3977632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Plan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Book of APS — netted corridors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 fence across deals (e.g. 2 long + 1 short, expiries ≤ 4 mo). Sign-crossing schedules already supported; needs a book-level driver + validation.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Band adaptivity from EXTERNAL signal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Condition the band on realized vol / regime state; leave-one-out validated on the 48 months. The only route to the ≈ +20/oz hindsight headroom.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Intraday-calibrated CME friction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DONE — net-of-cost band ranking re-verified under a realistic maturity/vol cost model (M1/M2/M3 = 6/11/34 bps, OI-calibrated); band 0.15 holds under base and stressed cost. Remaining: 2 pm-synced intraday spread capture, revisit as it accrues.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Re-validate cross-market dual-strip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Confirm the CME-strip / LME-liability edge holds in the corrected martingale world.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Hard calibration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Make E[dF] ≈ 0 on every tradeable a blocking check at every calibration — institutionalize the integrity lesson.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Multi-GPU scale-out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Recipe documented for 4×A100 servers (batch / inner parameters).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Basis recalibration (GARCH world)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In the GARCH world the basis model's regime linkage is temporarily FLATTENED (flat Σ, σ = 8.079 — the stationary regime mix); no regime-publishing primary to link to. Awaits the 2 pm-synced recalibration. Known interim.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Hedge the LME basis floor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At tight bands ≈79% of residual std is basis (ρ → +0.72 at 0.15); a CME-only strip cannot hedge it (≈25 $/oz wall). Add an LME-priced instrument to attack the residual variance.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STATUS_NOTE_corridor.md open items. Machinery: Total_Position_Schedule — per-step [Min_Total, Max_Total] knots on the signed total position.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the identified joint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Five equations and one inequality define the world the policy is solved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5096" cy="26517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c₁₂(t)   =  ln(F2/F1) / (τ2 − τ1)  −  fwdSOFR                 # carry;  autocorr 0.97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P(t)     =  F1 · exp(−(rf + c)·τ1)                           # CME continuous spot (martingale)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b(t+1)   =  φ·b(t)  +  A·ΔLME  +  η ,     φ ≈ 0.34           # basis AR(1),  σ ≈ 16.5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S(t)     =  P(t)  +  b(t)                                    # observable LBMA fix (composed)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dS(t+1)  =  κ·( P(t) − S(t) )  +  … ,     κ = 0.647 ≈ 1 − φ  # fix catch-up = basis reversion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E[ dF(t+1) | b(t) ]  ≈  0                                    # tradeable martingale guard (|t| 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The identity κ ≈ 1 − φ is the load-bearing fact: the same daily speed appears in the fix's catch-up and the basis's reversion, so the two-clock law is identified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All coefficients recomputed on data/pl_exp.csv (3,856 daily rows).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DiffSolverV2 pseudo-code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466344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bank: one small MLP per timestep for the position-free continuation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nets = [MLP(in=market_dim+1, hidden=32, out=1) for t in range(T)]   # ~1.4k params 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c    = deal_scale                                                  # utility normaliser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def u(W):                              # asymmetric Huber (a=6, d=1), in c-units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x = W / c;  loss = relu(-x)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pen = where(loss&lt;=d,  a*loss**2,  a*d**2 + 2*a*d*(loss-d))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return x - pen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backward sweep: fit C_t = u(W) + A_t via the Huge-Savine twin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for t in reversed(range(T)):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S, W, q_prev = sample_states(t)                        # outer draws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grid = action_grid(q_prev, cap=50, short_only=True)    # mask-aware, cap-pruned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q*   = argmax_a  E_inner[ C_{t+1}(f(S,eps), W + pnl(S,eps,a)) ]   # Bellman max OUTSIDE net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    #      inner expectation via ONE-STEP antithetic MC forks (bootstrap label)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y, dy = bootstrap_value_and_pathwise_grad(t, S, W, q*)  # value + AAD Jacobian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A_t   = fit(nets[t], value=y - u(W), grad=dy)           # twin loss, per-column normalised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clamp A_t to trust region [a_lo, a_hi]                  # kill off-support extrapolation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verdict on a held-out split, then hand back a deployable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assert ladder(hindsight &gt;= greedy &gt;= textbook)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return policy_artifact(nets, standardization_frames, utility_scale, config_hash)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 exactly hedge_bundle._utility_wrap_signed (a=Huber_Aversion, d=Huber_Delta).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calibration → backtest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5096" cy="40233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for quarter q in walk_forward(2021-01 .. 2022-12):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hist   = archive[: q.calibration_date]            # strictly no lookahead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world  = calibrate(hist)                          # HMM spot P + AR(1) basis 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abs(E[dF | b]) small on every tradeable    # martingale guard, else 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policy = DiffSolverV2.solve(world, aversion=6)     # train in the simulated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freeze(policy)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for day in q.trading_days:                        # roll on the REALIZED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m = realized_market[day]                      # strictly causal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a = policy.decide(m, stepper.wealth)          # off the stepper's OWN wealth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stepper.step(a)                               # var margin, financing, expiry, forced-flat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row = record(greedy, nohedge, pf_bound, bound_pass)   # per-trade causal ceiling stamped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row.greedy &lt;= row.pf_bound                     # falsification check on every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 · calibrate_platinum.py. Seed 7, single seed per trade.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reproducibility manifest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headline number in this deck was recomputed from these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349 tests collected · commits verified in git log · all $/oz stats recomputed from the CSVs above.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11680"/>
          <a:ext cx="11055095" cy="4206230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Path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4-year walk-forward (baseline)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artifacts/walk_forward/full48_baseline.csv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frontier rolls (144)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artifacts/walk_forward/full48_corridor_rolls.csv  (bands 0.25 / 0.40 / 0.60)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Train-in-corridor + in-sim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train_in_corridor_subset.csv · tb_insim_202105_b040.json · tb_insim_202102_b040.json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Band-selection study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adaptive_corridor_sweep.csv · adaptive_corridor_verdict.md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Loss-attribution panel (40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lf2_forensics.csv · underhedge_probes.csv (34-probe under-hedge diagnosis, c6c7706)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close-out note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STATUS_NOTE_corridor.md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2-year interim runs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aversion6_24trade_final.csv · aversion6_reverify_committed_pipeline.csv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Raw data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data/pl_exp.csv  (3,856 rows, 2009–2025)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349 tests  (bit-gates: fixture V_0, stepper floats, corridor L1 = 0, HMM↔GARCH interchange)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c87284d · f8c067b · 5460692 · 74ef6de · c52411d · 11ef68d · 5e61ae5 · 3073bf0 · post-review: 8483956 · c23d4aa · 5e4e041 · 4f08450 · 14c9374 · c6c7706 · d542ae9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ensemble 7 / 42 / 314 · roll-inner 512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4-year walk-forward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artifacts/walk_forward/garch48_final.csv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model specification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GARCHSpotModel_spec.md  (model definition, §1a clock correction, acceptance tests)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 frontier + net-of-cost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garch48_corridor_rolls.csv · corridor_band_frontier.csv · net_of_cost_frontier.csv · cost_model_realistic.json  (bands 0.15–0.60; base / high cost) · driftless_subset_paired.csv (price-martingale verdict)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