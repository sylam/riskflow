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86" r:id="rId37"/>
    <p:sldId id="287" r:id="rId38"/>
    <p:sldId id="288" r:id="rId39"/>
    <p:sldId id="289" r:id="rId40"/>
    <p:sldId id="290" r:id="rId41"/>
    <p:sldId id="291" r:id="rId42"/>
    <p:sldId id="277" r:id="rId28"/>
    <p:sldId id="278" r:id="rId29"/>
    <p:sldId id="279" r:id="rId30"/>
    <p:sldId id="280" r:id="rId31"/>
    <p:sldId id="281" r:id="rId32"/>
    <p:sldId id="292" r:id="rId43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10550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77B4"/>
                </a:solidFill>
                <a:latin typeface="Calibri"/>
              </a:rPr>
              <a:t>MANAGEMENT FEEDBACK   ·   PLATINUM HEDGING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11055096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22262A"/>
                </a:solidFill>
                <a:latin typeface="Calibri"/>
              </a:rPr>
              <a:t>Hedging the Platinum Prepay / Offtake 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063240"/>
            <a:ext cx="11055096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2B3A42"/>
                </a:solidFill>
                <a:latin typeface="Calibri"/>
              </a:rPr>
              <a:t>A dynamic-programming hedge for a 3-month LBMA platinum average-price swap 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2B3A42"/>
                </a:solidFill>
                <a:latin typeface="Calibri"/>
              </a:rPr>
              <a:t>4-year (48-trade) walk-forward, corridor-controlled variance, results and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160520"/>
            <a:ext cx="3575304" cy="13716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379976"/>
            <a:ext cx="35753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77B4"/>
                </a:solidFill>
                <a:latin typeface="Calibri"/>
              </a:rPr>
              <a:t>+$22/oz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001768"/>
            <a:ext cx="33924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mean edge, 48 trades (2020–2023)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4160520"/>
            <a:ext cx="3575304" cy="13716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4379976"/>
            <a:ext cx="35753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77B4"/>
                </a:solidFill>
                <a:latin typeface="Calibri"/>
              </a:rPr>
              <a:t>48 / 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4" y="5001768"/>
            <a:ext cx="33924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trades inside the causal bound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160520"/>
            <a:ext cx="3575304" cy="13716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379976"/>
            <a:ext cx="35753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77B4"/>
                </a:solidFill>
                <a:latin typeface="Calibri"/>
              </a:rPr>
              <a:t>−32%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5001768"/>
            <a:ext cx="33924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less variance from the shipped delta corridor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989320"/>
            <a:ext cx="110550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78"/>
                </a:solidFill>
                <a:latin typeface="Calibri"/>
              </a:rPr>
              <a:t>Quant Hedging  ·  2026-07-17  ·  All figures recomputed from committed artifacts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ASK, AND 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Can we systematically hedge the book and keep the dealer margin?  Yes — proven over four years (2020–2023, 48 trades). Every number is traceable to an artifact.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15000"/>
            <a:ext cx="1105509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3A42"/>
                </a:solidFill>
                <a:latin typeface="Calibri"/>
              </a:rPr>
              <a:t>THE RULE:  single months are directional-overlay noise (std ≈ $80/oz). Only the 48-trade MEAN is reproducible — and it equals the locked margin, not a market 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artifacts/walk_forward/full48_baseline.csv · full48_corridor_rolls.csv · paired stats + 20k bootstrap recomputed here.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011680"/>
          <a:ext cx="11055096" cy="3383280"/>
        </p:xfrm>
        <a:graphic>
          <a:graphicData uri="http://schemas.openxmlformats.org/drawingml/2006/table">
            <a:tbl>
              <a:tblPr/>
              <a:tblGrid>
                <a:gridCol w="4645152"/>
                <a:gridCol w="4645152"/>
                <a:gridCol w="1764792"/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Walk-forward span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monthly trades · Jan-2020 – Dec-2023 (incl. COVID)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full48_baseline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Mean edge — ensemble 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+22.09 $/oz   (std 88.2 ; SE ±12.7)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full48_baseline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Shipping config — delta corridor (band 0.60)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+23.10 $/oz   (std 60.4)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corridor_rolls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Mean difference, shipping vs 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+1.0 $/oz · t = 0.16  (statistically zero)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paired · 48 mo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Proven corridor contribution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variance −32%  (100% of 20k paired bootstraps)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bootstrap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Causal-bound discipline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/ 48 PASS · 0 corridor breaches in 144 rolls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both CSVs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What the mean IS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the locked dealer margin + basis carry — not a market call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lf2 panel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LAYERED BY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How to read this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deck deepens as it goes. Stop wherever the detail exceeds your need.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Executive → increasingly detailed → quant-grade, ending in pseudo-code and a reproducibility manifest.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057400"/>
          <a:ext cx="11055096" cy="4343394"/>
        </p:xfrm>
        <a:graphic>
          <a:graphicData uri="http://schemas.openxmlformats.org/drawingml/2006/table">
            <a:tbl>
              <a:tblPr/>
              <a:tblGrid>
                <a:gridCol w="1545336"/>
                <a:gridCol w="6858000"/>
                <a:gridCol w="2651760"/>
              </a:tblGrid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Slides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For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2 – 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Executive — the ask and the answer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Decision-makers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4 – 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The trade and why hedging it is hard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6 – 11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Methodology: data → decomposition → model → guard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Risk / product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12 – 15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The solver and the verification machinery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Risk / quant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16 – 21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Results: 2-year interim — headline, stability, attribution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22 – 27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Four-year walk-forward &amp; variance control (delta corridor)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Risk / quant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28 – 30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Integrity: how we caught our own too-good result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31 – 32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Caveats and recommended next steps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Future work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94854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34 – 37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Quant appendix: equations, pseudo-code, manifest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Quant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TRADE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deal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A 3-month average-price platinum swap, hedged with exchange futures.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57400"/>
          <a:ext cx="11055095" cy="4114800"/>
        </p:xfrm>
        <a:graphic>
          <a:graphicData uri="http://schemas.openxmlformats.org/drawingml/2006/table">
            <a:tbl>
              <a:tblPr/>
              <a:tblGrid>
                <a:gridCol w="3316528"/>
                <a:gridCol w="7738567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Underlying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LBMA 2 pm platinum fix  (USD / oz)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3-month arithmetic average-price swap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Notional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2,500 oz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Strike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fair − $8 / oz   (the dealer margin)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Hedge instruments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front-3 CME platinum futures  (50 oz / contract)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Book constraint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short-only, total cap 50 contracts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Rebalancing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Transaction cost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half of a 10 bps bid/offer on notional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Fixture: tests/fixtures/policy_test_simulate_only.json · per-leg strike lives in Fixed_Basis, never hardcoded.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TRADE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Why a static short is the wrong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Three structural frictions make a fixed hedge ratio leak money.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105509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1F77B4"/>
                </a:solidFill>
                <a:latin typeface="Calibri"/>
              </a:rPr>
              <a:t>▪  </a:t>
            </a:r>
            <a:r>
              <a:rPr sz="1700" b="1">
                <a:solidFill>
                  <a:srgbClr val="22262A"/>
                </a:solidFill>
                <a:latin typeface="Calibri"/>
              </a:rPr>
              <a:t>Two clocks.  </a:t>
            </a:r>
            <a:r>
              <a:rPr sz="1700">
                <a:solidFill>
                  <a:srgbClr val="22262A"/>
                </a:solidFill>
                <a:latin typeface="Calibri"/>
              </a:rPr>
              <a:t>The swap prices off the LBMA 2 pm fix; the hedge trades CME futures. They are not the same price at the same instant — the fix reads CME roughly 19 hours later.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1F77B4"/>
                </a:solidFill>
                <a:latin typeface="Calibri"/>
              </a:rPr>
              <a:t>▪  </a:t>
            </a:r>
            <a:r>
              <a:rPr sz="1700" b="1">
                <a:solidFill>
                  <a:srgbClr val="22262A"/>
                </a:solidFill>
                <a:latin typeface="Calibri"/>
              </a:rPr>
              <a:t>Basis risk.  </a:t>
            </a:r>
            <a:r>
              <a:rPr sz="1700">
                <a:solidFill>
                  <a:srgbClr val="22262A"/>
                </a:solidFill>
                <a:latin typeface="Calibri"/>
              </a:rPr>
              <a:t>LBMA minus the CME continuous spot has σ ≈ 16.5 $/oz and mean-reverts. A fixed hedge ratio leaves this un-neutralised.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1F77B4"/>
                </a:solidFill>
                <a:latin typeface="Calibri"/>
              </a:rPr>
              <a:t>▪  </a:t>
            </a:r>
            <a:r>
              <a:rPr sz="1700" b="1">
                <a:solidFill>
                  <a:srgbClr val="22262A"/>
                </a:solidFill>
                <a:latin typeface="Calibri"/>
              </a:rPr>
              <a:t>Average-price optionality.  </a:t>
            </a:r>
            <a:r>
              <a:rPr sz="1700">
                <a:solidFill>
                  <a:srgbClr val="22262A"/>
                </a:solidFill>
                <a:latin typeface="Calibri"/>
              </a:rPr>
              <a:t>The swap references a 3-month average, so hedge sensitivity decays deterministically as fixings accrue — the correct hedge ratio changes every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212080"/>
            <a:ext cx="1105509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77B4"/>
                </a:solidFill>
                <a:latin typeface="Calibri"/>
              </a:rPr>
              <a:t>The optimal hedge is dynamic and basis-aware — exactly what a static lock cannot deliver.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1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Methodology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Raw data → clean decomposition → identified joint law → simulated world → frozen policy → realized-path backtest.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Data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pl_exp.csv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84476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30780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0780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0780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Decompose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carry · spot · basis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48328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4632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4632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4632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Identify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κ = 1 − φ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12180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8484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8484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8484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Calibrate world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HMM + AR(1) basis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76032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22336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2336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2336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Solve &amp; FREEZE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policy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39884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86188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86188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6188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Roll on the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REALIZED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663440"/>
            <a:ext cx="110550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2B3A42"/>
                </a:solidFill>
                <a:latin typeface="Calibri"/>
              </a:rPr>
              <a:t>The next five slides walk this pipeline left to right.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data — one archive, fully auditable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Every model input comes from a single committed CSV.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57400"/>
          <a:ext cx="11055095" cy="3328416"/>
        </p:xfrm>
        <a:graphic>
          <a:graphicData uri="http://schemas.openxmlformats.org/drawingml/2006/table">
            <a:tbl>
              <a:tblPr/>
              <a:tblGrid>
                <a:gridCol w="2432121"/>
                <a:gridCol w="8622974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data/pl_exp.csv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3,856 daily observations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Span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2009 – 2025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Futures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CME PL1 / PL2 / PL3 settles + open interest + contract τ and expiries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Rates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full USD-SOFR zero curve (48 tenors)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LBMA 2 pm platinum fix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data/pl_exp.csv — 3,856 rows confirmed by wc -l (header + 3,856).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clean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Strip the observable prices into three economically-clean state variables.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4" cy="2267712"/>
        </p:xfrm>
        <a:graphic>
          <a:graphicData uri="http://schemas.openxmlformats.org/drawingml/2006/table">
            <a:tbl>
              <a:tblPr/>
              <a:tblGrid>
                <a:gridCol w="3095426"/>
                <a:gridCol w="4643140"/>
                <a:gridCol w="3316528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Property (measured)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Calendar carry  c₁₂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ln(F2/F1)/(τ2−τ1) − forward SOFR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autocorr 0.97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CME continuous spot  P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F1 · exp(−(rf + c)·τ1)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the tradeable primary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Basis  b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LBMA fix − P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σ 16.50, level autocorr 0.34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572000"/>
            <a:ext cx="1105509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B3A42"/>
                </a:solidFill>
                <a:latin typeface="Calibri"/>
              </a:rPr>
              <a:t>Carry is near-permanent (autocorr 0.97); the basis is a fast, mean-reverting echo (σ 16.5). These are the only moving parts the hedge must manage.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Recomputed on data/pl_exp.csv: basis std 16.50, level autocorr 0.336.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key empirical identity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One number, measured two independent ways, agrees — so the joint law is identified, not fitted.</a:t>
            </a:r>
          </a:p>
        </p:txBody>
      </p:sp>
      <p:pic>
        <p:nvPicPr>
          <p:cNvPr id="7" name="Picture 6" descr="deck_id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6035040" cy="42625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Catch-up.  </a:t>
            </a:r>
            <a:r>
              <a:rPr sz="1500">
                <a:solidFill>
                  <a:srgbClr val="22262A"/>
                </a:solidFill>
                <a:latin typeface="Calibri"/>
              </a:rPr>
              <a:t>Regress dS(t+1) on the CME−fix gap → κ = 0.647/day (t = +51).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Reversion.  </a:t>
            </a:r>
            <a:r>
              <a:rPr sz="1500">
                <a:solidFill>
                  <a:srgbClr val="22262A"/>
                </a:solidFill>
                <a:latin typeface="Calibri"/>
              </a:rPr>
              <a:t>Basis AR(1) autocorr → 1 − φ = 0.66.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They match.  </a:t>
            </a:r>
            <a:r>
              <a:rPr sz="1500">
                <a:solidFill>
                  <a:srgbClr val="22262A"/>
                </a:solidFill>
                <a:latin typeface="Calibri"/>
              </a:rPr>
              <a:t>CME is the price; the fix reads it ~19 h later.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And CME is a martingale.  </a:t>
            </a:r>
            <a:r>
              <a:rPr sz="1500">
                <a:solidFill>
                  <a:srgbClr val="22262A"/>
                </a:solidFill>
                <a:latin typeface="Calibri"/>
              </a:rPr>
              <a:t>dF(t+1) on b: |t| &lt; 1 — no executable drift to farm.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Recomputed on data/pl_exp.csv: κ 0.647 (t +51.4), 1−φ 0.664, martingale dF~b slope 0.014 (|t| 0.7).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Model structure — drift where it belongs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tradeable leg is a martingale; the catch-up drift lives on the fixing leg the swap references.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48840"/>
            <a:ext cx="7680960" cy="1051560"/>
          </a:xfrm>
          <a:prstGeom prst="roundRect">
            <a:avLst/>
          </a:prstGeom>
          <a:solidFill>
            <a:srgbClr val="EFF3F6"/>
          </a:solidFill>
          <a:ln w="1778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4028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F77B4"/>
                </a:solidFill>
                <a:latin typeface="Calibri"/>
              </a:rPr>
              <a:t>CommodityPrice.PLATINUM_CME = P  (martingale primary)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06040"/>
            <a:ext cx="7315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62A"/>
                </a:solidFill>
                <a:latin typeface="Calibri"/>
              </a:rPr>
              <a:t>Regime-switching HMM, 3 regimes (crash μ = −0.33, sane on the CME series). The futures reference this.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337560"/>
            <a:ext cx="7680960" cy="1051560"/>
          </a:xfrm>
          <a:prstGeom prst="roundRect">
            <a:avLst/>
          </a:prstGeom>
          <a:solidFill>
            <a:srgbClr val="EFF3F6"/>
          </a:solidFill>
          <a:ln w="17780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42900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2CA02C"/>
                </a:solidFill>
                <a:latin typeface="Calibri"/>
              </a:rPr>
              <a:t>CommodityBasis.LME_CME = b  (AR(1) vs P, σ 16.5)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94760"/>
            <a:ext cx="7315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62A"/>
                </a:solidFill>
                <a:latin typeface="Calibri"/>
              </a:rPr>
              <a:t>The fast mean-reverting echo between the exchange and the fixing.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7680960" cy="1051560"/>
          </a:xfrm>
          <a:prstGeom prst="roundRect">
            <a:avLst/>
          </a:prstGeom>
          <a:solidFill>
            <a:srgbClr val="EFF3F6"/>
          </a:solidFill>
          <a:ln w="17780">
            <a:solidFill>
              <a:srgbClr val="E06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61772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E06A0A"/>
                </a:solidFill>
                <a:latin typeface="Calibri"/>
              </a:rPr>
              <a:t>Observable LBMA fixing  S = P + b  (composed)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83480"/>
            <a:ext cx="7315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62A"/>
                </a:solidFill>
                <a:latin typeface="Calibri"/>
              </a:rPr>
              <a:t>The swap references this — so it inherits the catch-up. The hedge does not.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194560"/>
            <a:ext cx="3108960" cy="2286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B52A2A"/>
                </a:solidFill>
                <a:latin typeface="Calibri"/>
              </a:rPr>
              <a:t>Before the fix, the basis drift sat on the TRADEABLE leg 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B52A2A"/>
                </a:solidFill>
                <a:latin typeface="Calibri"/>
              </a:rPr>
              <a:t>so the solver farmed a reversion that is unexecutable in reality.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B52A2A"/>
                </a:solidFill>
                <a:latin typeface="Calibri"/>
              </a:rPr>
              <a:t>(See the integrity section.)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MarketDataRF_platinum_calibrated_cme.json · calibrated on the CME series (crash μ −0.33 vs pathological −3.66 on LBMA).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6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standing guard at every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one question asked of every calibration: is there executable drift on the tradeables? There must not be.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48840"/>
          <a:ext cx="11055095" cy="2194560"/>
        </p:xfrm>
        <a:graphic>
          <a:graphicData uri="http://schemas.openxmlformats.org/drawingml/2006/table">
            <a:tbl>
              <a:tblPr/>
              <a:tblGrid>
                <a:gridCol w="5085344"/>
                <a:gridCol w="2432121"/>
                <a:gridCol w="353763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E[dF | b] on CME  (martingale)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≈ 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slope 0.014,  |t| = 0.7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Catch-up on the fixing leg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large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t ≈ −45 to −51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Basis σ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≈ 16.5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16.50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572000"/>
            <a:ext cx="1105509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B3A42"/>
                </a:solidFill>
                <a:latin typeface="Calibri"/>
              </a:rPr>
              <a:t>If any future shows tradeable drift, the calibration is REJECTED before a single solve. This is the guard that a prior model version lacked.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Guard asserts executed green in platinum_hedge_validation.ipynb; recomputed dF~b |t|=0.7 on data/pl_exp.csv.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solver, in plain English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Backward dynamic programming with a learned, position-free value function.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10550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Work backwards from expiry.  </a:t>
            </a:r>
            <a:r>
              <a:rPr sz="1600">
                <a:solidFill>
                  <a:srgbClr val="22262A"/>
                </a:solidFill>
                <a:latin typeface="Calibri"/>
              </a:rPr>
              <a:t>Each day, ask: given today's market and book, which hedge maximises expected end-of-deal utility?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Position-free continuation.  </a:t>
            </a:r>
            <a:r>
              <a:rPr sz="1600">
                <a:solidFill>
                  <a:srgbClr val="22262A"/>
                </a:solidFill>
                <a:latin typeface="Calibri"/>
              </a:rPr>
              <a:t>C_t(market, W) = u(W) + A_t(market, W) is learned by a small net per timestep (~1.4k params). Position-free, so one fit serves every candidate hedge.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The choice sits outside the net.  </a:t>
            </a:r>
            <a:r>
              <a:rPr sz="1600">
                <a:solidFill>
                  <a:srgbClr val="22262A"/>
                </a:solidFill>
                <a:latin typeface="Calibri"/>
              </a:rPr>
              <a:t>The Bellman max is an explicit search over an allowed action grid — respecting the 50-contract cap and short-only rule — not baked into the fitted value.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Train, then freeze.  </a:t>
            </a:r>
            <a:r>
              <a:rPr sz="1600">
                <a:solidFill>
                  <a:srgbClr val="22262A"/>
                </a:solidFill>
                <a:latin typeface="Calibri"/>
              </a:rPr>
              <a:t>The policy is trained in the calibrated simulated world and then FROZEN before it ever touches realized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diffsolver_v2.py · hedge_solver.py · utility: hedge_bundle._utility_wrap_signed (single source of truth).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objective: downside-asymmetric utility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We optimise utility, not raw P&amp;L — and aversion is the single tuned lever.</a:t>
            </a:r>
          </a:p>
        </p:txBody>
      </p:sp>
      <p:pic>
        <p:nvPicPr>
          <p:cNvPr id="7" name="Picture 6" descr="deck_u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6309360" cy="39235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205740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262A"/>
                </a:solidFill>
                <a:latin typeface="Calibri"/>
              </a:rPr>
              <a:t>Aversion sweep  (mean net $/oz)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040880" y="2514600"/>
          <a:ext cx="4572000" cy="18288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Aversion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Mean $/oz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+4.74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net-negative bets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+18.19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SHIPPED (best)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no reproducible gain*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040880" y="5029200"/>
            <a:ext cx="46634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B3A42"/>
                </a:solidFill>
                <a:latin typeface="Calibri"/>
              </a:rPr>
              <a:t>Gains stay linear (never taxed); small losses curve; the deep tail is linear (no runaway penalty). Raising aversion past 6 buys no reproducible gain.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Full-24 means: la_attribution.csv (av 2.5) · aversion6_24trade_final.csv (av 6). * Av 12 = 10-trade sweep subset, Δ within ±$100/oz seed noise.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walk-forward protocol — no lookahead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No lookahead anywhere. This is the defensibility core of the backtest.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Calibrate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on data ≤ date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99716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27732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7732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Train policy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in sim world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0520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88536" y="2103120"/>
            <a:ext cx="1751076" cy="1188720"/>
          </a:xfrm>
          <a:prstGeom prst="roundRect">
            <a:avLst/>
          </a:prstGeom>
          <a:solidFill>
            <a:srgbClr val="1F77B4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8536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FREEZE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21324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49340" y="2103120"/>
            <a:ext cx="1751076" cy="1188720"/>
          </a:xfrm>
          <a:prstGeom prst="roundRect">
            <a:avLst/>
          </a:prstGeom>
          <a:solidFill>
            <a:srgbClr val="1F77B4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9340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Roll day-by-day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REALIZED path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82128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0144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0144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Stamp per-trade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causal bound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742932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70948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0948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Recalibrate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next quarter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657600"/>
            <a:ext cx="1105509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Strictly causal.  </a:t>
            </a:r>
            <a:r>
              <a:rPr sz="1550">
                <a:solidFill>
                  <a:srgbClr val="22262A"/>
                </a:solidFill>
                <a:latin typeface="Calibri"/>
              </a:rPr>
              <a:t>Spot history strictly before each trade date; quarterly recalibration on data ≤ calibration date only.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Real accounting.  </a:t>
            </a:r>
            <a:r>
              <a:rPr sz="1550">
                <a:solidFill>
                  <a:srgbClr val="22262A"/>
                </a:solidFill>
                <a:latin typeface="Calibri"/>
              </a:rPr>
              <a:t>Rolled through a real futures stepper: variation margin, financing, per-instrument expiry, forced-flat.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Provably causal.  </a:t>
            </a:r>
            <a:r>
              <a:rPr sz="1550">
                <a:solidFill>
                  <a:srgbClr val="22262A"/>
                </a:solidFill>
                <a:latin typeface="Calibri"/>
              </a:rPr>
              <a:t>Decisions run off the stepper's own wealth — bit-identical when the future is erased.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production_walk_forward.py: calibrate → train → freeze → roll. Future-erasure test proves causality.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Verification machinery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Every run carries its own falsification tests — so a wrong answer trips a wire.</a:t>
            </a:r>
          </a:p>
        </p:txBody>
      </p:sp>
      <p:pic>
        <p:nvPicPr>
          <p:cNvPr id="7" name="Picture 6" descr="deck_b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6400800" cy="3915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8660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Causal ceiling.  </a:t>
            </a:r>
            <a:r>
              <a:rPr sz="1500">
                <a:solidFill>
                  <a:srgbClr val="22262A"/>
                </a:solidFill>
                <a:latin typeface="Calibri"/>
              </a:rPr>
              <a:t>Per trade: unhedged + perfect-foresight harvest on the traded strip. 48/48 trades (both runs) inside.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Acceptance ladder.  </a:t>
            </a:r>
            <a:r>
              <a:rPr sz="1500">
                <a:solidFill>
                  <a:srgbClr val="22262A"/>
                </a:solidFill>
                <a:latin typeface="Calibri"/>
              </a:rPr>
              <a:t>Checked per run: hindsight ≥ greedy ≥ textbook.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Bitwise anchors.  </a:t>
            </a:r>
            <a:r>
              <a:rPr sz="1500">
                <a:solidFill>
                  <a:srgbClr val="22262A"/>
                </a:solidFill>
                <a:latin typeface="Calibri"/>
              </a:rPr>
              <a:t>Fixture V_0 and stepper floats are byte-locked; any code change that moves them fails CI.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Both CSVs: bound_pass = True on 24/24 rows. Bit-gates: fixture V_0 + stepper floats (65-test suite).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1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Headline results — 2-year interim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2-year interim result (Jan-2021 – Dec-2022). Two independent re-runs; the four-year update follows in the next section.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57400"/>
          <a:ext cx="11055094" cy="3950208"/>
        </p:xfrm>
        <a:graphic>
          <a:graphicData uri="http://schemas.openxmlformats.org/drawingml/2006/table">
            <a:tbl>
              <a:tblPr/>
              <a:tblGrid>
                <a:gridCol w="4422038"/>
                <a:gridCol w="3316528"/>
                <a:gridCol w="3316528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Statistic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Run A  (goal)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Run B  (re-verify)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Mean  ($/oz)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+18.19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+17.58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+24.56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+10.33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-166.14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-106.79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+214.80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+238.05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Std dev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92.73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87.18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Positive trades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13 / 24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13 / 24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Causal-bound PASS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24 / 24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24 / 24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Unhedged mean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-2.54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-2.54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aversion6_24trade_final.csv (Run A) · aversion6_reverify_committed_pipeline.csv (Run B). Same realized path; fresh calibration + RNG in 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Cumulative edge over 24 trades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hedged book compounds a positive edge; the unhedged book drifts negative.</a:t>
            </a:r>
          </a:p>
        </p:txBody>
      </p:sp>
      <p:pic>
        <p:nvPicPr>
          <p:cNvPr id="7" name="Picture 6" descr="deck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115" y="1874519"/>
            <a:ext cx="7200984" cy="3977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B3A42"/>
                </a:solidFill>
                <a:latin typeface="Calibri"/>
              </a:rPr>
              <a:t>Cumulative net P&amp;L over the 24 monthly trades:   DP hedge +437 $/oz    vs    unhedged −61 $/oz.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Cumulative sums of the greedy and unhedged columns, aversion6_24trade_final.csv.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Month by 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Individual months are dominated by seed noise (±$100/oz). Do not read single months.</a:t>
            </a:r>
          </a:p>
        </p:txBody>
      </p:sp>
      <p:pic>
        <p:nvPicPr>
          <p:cNvPr id="7" name="Picture 6" descr="deck_per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674" y="1920240"/>
            <a:ext cx="9527866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Per-month greedy and unhedged $/oz, aversion6_24trade_final.csv. Dashed lines = 24-trade means.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Reproducibility — quote means, never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mean reproduces to ±$1/oz across independent pipelines; single months do not.</a:t>
            </a:r>
          </a:p>
        </p:txBody>
      </p:sp>
      <p:pic>
        <p:nvPicPr>
          <p:cNvPr id="7" name="Picture 6" descr="deck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4831451" cy="44348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246888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Means agree.  </a:t>
            </a:r>
            <a:r>
              <a:rPr sz="1550">
                <a:solidFill>
                  <a:srgbClr val="22262A"/>
                </a:solidFill>
                <a:latin typeface="Calibri"/>
              </a:rPr>
              <a:t>Run A +18.19, Run B +17.58; difference -0.61 $/oz.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Months do not.  </a:t>
            </a:r>
            <a:r>
              <a:rPr sz="1550">
                <a:solidFill>
                  <a:srgbClr val="22262A"/>
                </a:solidFill>
                <a:latin typeface="Calibri"/>
              </a:rPr>
              <a:t>Sign agreement only 12/24; max month-level gap 240 $/oz.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Implication.  </a:t>
            </a:r>
            <a:r>
              <a:rPr sz="1550">
                <a:solidFill>
                  <a:srgbClr val="22262A"/>
                </a:solidFill>
                <a:latin typeface="Calibri"/>
              </a:rPr>
              <a:t>A single month is a draw from a ±$100/oz distribution. The 24-trade mean is the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Run A vs Run B per trade, both walk-forward CSVs. Δmean −0.61, sign-agreement 12/24, max|Δ| 240 $/oz.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Attribution — the lever is aversion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edge comes from downside aversion, not from trading more.</a:t>
            </a:r>
          </a:p>
        </p:txBody>
      </p:sp>
      <p:pic>
        <p:nvPicPr>
          <p:cNvPr id="7" name="Picture 6" descr="deck_at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7426722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2194560"/>
            <a:ext cx="3291840" cy="3840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Baseline (av 2.5)  +4.74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=  full-lock 15.25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−  active bets 4.43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−  excess churn 6.08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Raise Huber aversion → 6: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+13.45  →  +18.19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Losers recovered hard;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winners kept ~all.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la_attribution.csv (aversion 2.5 baseline) + aversion6_24trade_final.csv (aversion 6).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6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DP hedge beats the static full-lock on mean, with managed dispersion.</a:t>
            </a:r>
          </a:p>
        </p:txBody>
      </p:sp>
      <p:pic>
        <p:nvPicPr>
          <p:cNvPr id="7" name="Picture 6" descr="deck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722291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2286000"/>
            <a:ext cx="356616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Static full-lock, verified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through the REAL stepper: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+15.25 net  =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   margin 8.00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+ realized basis drift 8.29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−  lock cost 1.01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Full-lock verified through the real stepper. Benchmarks frictionless; net-of-cost reported uniformly.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INTEGRITY  · 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Integrity: how we caught our own too-good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An earlier model version reported +$675/oz — implausible against an $8 margin. We did not ship it. We tried to break it.</a:t>
            </a:r>
          </a:p>
        </p:txBody>
      </p:sp>
      <p:pic>
        <p:nvPicPr>
          <p:cNvPr id="7" name="Picture 6" descr="deck_integ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95" y="1920240"/>
            <a:ext cx="7688825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760720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We had already built a hard causal bound (unhedged + perfect-foresight harvest on the traded strip). The +675 result VIOLATED it on multiple months. A number that beats what perfect foresight allows is not a profit — it is a bug. That triggered a forensic tear-down.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Mean causal ceiling ≈ 687 $/oz (mean of pf_bound, aversion6_24trade_final.csv). Old +675 figure is the pre-fix reported mean.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INTEGRITY  · 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forensic exoneration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We localised the error by elimination — accounting and causality were cleared; the model was the culprit.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5" cy="2267712"/>
        </p:xfrm>
        <a:graphic>
          <a:graphicData uri="http://schemas.openxmlformats.org/drawingml/2006/table">
            <a:tbl>
              <a:tblPr/>
              <a:tblGrid>
                <a:gridCol w="2432121"/>
                <a:gridCol w="4864242"/>
                <a:gridCol w="3758732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Suspect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22262A"/>
                          </a:solidFill>
                          <a:latin typeface="Calibri"/>
                        </a:rPr>
                        <a:t>Stepper accounting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static-short replay through the real stepper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EXONERATED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22262A"/>
                          </a:solidFill>
                          <a:latin typeface="Calibri"/>
                        </a:rPr>
                        <a:t>Look-ahead in decisions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future-erasure: erase the future, re-decide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EXONERATED (bit-identical)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22262A"/>
                          </a:solidFill>
                          <a:latin typeface="Calibri"/>
                        </a:rPr>
                        <a:t>The model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E[dF | b] on the tradeable futures leg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GUILTY:  +0.65·b / day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709160"/>
            <a:ext cx="11055096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B52A2A"/>
                </a:solidFill>
                <a:latin typeface="Calibri"/>
              </a:rPr>
              <a:t>Root cause:  the basis's mean-reversion was placed on the TRADEABLE futures leg. The solver — correctly — farmed a drift of +0.65·b per day. But raw CME is a martingale: that drift does not exist in reality, so it is unexecutable.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Root-cause slope E[dF|b] ≈ +0.65·b/day on the mis-specified leg; corrected model measures |t|=0.7 (nil).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INTEGRITY  · 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fix, and the guards now 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Fix the model; then make the same failure impossible to repeat silently.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105509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Composed-spot inversion.  </a:t>
            </a:r>
            <a:r>
              <a:rPr sz="1550">
                <a:solidFill>
                  <a:srgbClr val="22262A"/>
                </a:solidFill>
                <a:latin typeface="Calibri"/>
              </a:rPr>
              <a:t>CME is the martingale primary; the basis and its catch-up live on the fixing leg (the swap), not on the hedge.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Bound stamped on every row.  </a:t>
            </a:r>
            <a:r>
              <a:rPr sz="1550">
                <a:solidFill>
                  <a:srgbClr val="22262A"/>
                </a:solidFill>
                <a:latin typeface="Calibri"/>
              </a:rPr>
              <a:t>Every backtest trade now records and asserts the causal-bound check.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Martingale guard at every calibration.  </a:t>
            </a:r>
            <a:r>
              <a:rPr sz="1550">
                <a:solidFill>
                  <a:srgbClr val="22262A"/>
                </a:solidFill>
                <a:latin typeface="Calibri"/>
              </a:rPr>
              <a:t>E[dF|b] ≈ 0 is verified on the tradeables before any solve.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Production-trust audit — 7 silent-failure paths closed.  </a:t>
            </a:r>
            <a:r>
              <a:rPr sz="1550">
                <a:solidFill>
                  <a:srgbClr val="22262A"/>
                </a:solidFill>
                <a:latin typeface="Calibri"/>
              </a:rPr>
              <a:t>Fabricated realized tails; silently-random replay on npz typos; NaN-blind flags; non-atomic writes — all now fail loud.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623560"/>
            <a:ext cx="1105509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The strongest trust argument is not that the number is big — it is that we built the machinery to catch it when it was too big, and it worked.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Production-trust audit: commit 0e2bd46. Composed-spot wiring: commit 3008d3c.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CLOSING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Caveats — stated plainly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What this result is NOT. Said openly, because that is the trust argument.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5" cy="3621024"/>
        </p:xfrm>
        <a:graphic>
          <a:graphicData uri="http://schemas.openxmlformats.org/drawingml/2006/table">
            <a:tbl>
              <a:tblPr/>
              <a:tblGrid>
                <a:gridCol w="3316528"/>
                <a:gridCol w="7738567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Caveat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Seed / Monte-Carlo dispersion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Ensemble (3 seeds) + roll-inner 512 collapse month dispersion; only the 48-trade mean is quoted.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Out-of-sample window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Now four years (2020–2023) incl. COVID — still not multiple full cycles.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Flat half-spread costs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Real CME microstructure friction is not calibrated (flat 10 bps half-spread).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Utility-scale convention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Recently moved to calibration-derived (flagged; explicit override available).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Frictionless benchmarks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By convention; net-of-cost is reported uniformly across tracks.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None of these overturn the headline mean; each is a scoped item for the next phase.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CLOSING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Recommended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near-term path to production sign-off; the broader roadmap follows in Future Work.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5" cy="3291840"/>
        </p:xfrm>
        <a:graphic>
          <a:graphicData uri="http://schemas.openxmlformats.org/drawingml/2006/table">
            <a:tbl>
              <a:tblPr/>
              <a:tblGrid>
                <a:gridCol w="3979834"/>
                <a:gridCol w="7075261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Ship band 0.60 (0.40 available)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One checkpoint set serves any mandate band — no per-client retraining.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Realistic friction calibration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Replace the flat 10 bps half-spread with measured CME microstructure friction.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Guard as a hard gate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Make E[dF | b] ≈ 0 block a calibration, not merely warn.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Book of APS + band adaptivity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The two capability steps that follow — detailed in Future Work.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The corridor ships as a risk control today; friction calibration and the hard guard are the remaining sign-off items.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the identified joint law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Five equations and one inequality define the world the policy is solved 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86000"/>
            <a:ext cx="11055096" cy="2651760"/>
          </a:xfrm>
          <a:prstGeom prst="rect">
            <a:avLst/>
          </a:prstGeom>
          <a:solidFill>
            <a:srgbClr val="F6F7F9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76200" tIns="88900" bIns="76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c₁₂(t)   =  ln(F2/F1) / (τ2 − τ1)  −  fwdSOFR                 # carry;  autocorr 0.97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P(t)     =  F1 · exp(−(rf + c)·τ1)                           # CME continuous spot (martingale)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b(t+1)   =  φ·b(t)  +  A·ΔLME  +  η ,     φ ≈ 0.34           # basis AR(1),  σ ≈ 16.5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S(t)     =  P(t)  +  b(t)                                    # observable LBMA fix (composed)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dS(t+1)  =  κ·( P(t) − S(t) )  +  … ,     κ = 0.647 ≈ 1 − φ  # fix catch-up = basis reversion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E[ dF(t+1) | b(t) ]  ≈  0                                    # tradeable martingale guard (|t| 0.7)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212080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The identity κ ≈ 1 − φ is the load-bearing fact: the same daily speed appears in the fix's catch-up and the basis's reversion, so the two-clock law is identified rather than assumed.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All coefficients recomputed on data/pl_exp.csv (3,856 daily rows).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DiffSolverV2 pseudo-code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1055096" cy="4663440"/>
          </a:xfrm>
          <a:prstGeom prst="rect">
            <a:avLst/>
          </a:prstGeom>
          <a:solidFill>
            <a:srgbClr val="F6F7F9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76200" tIns="88900" bIns="76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# bank: one small MLP per timestep for the position-free continuation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nets = [MLP(in=market_dim+1, hidden=32, out=1) for t in range(T)]   # ~1.4k params each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c    = deal_scale                                                  # utility normaliser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def u(W):                              # asymmetric Huber (a=6, d=1), in c-units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x = W / c;  loss = relu(-x)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pen = where(loss&lt;=d,  a*loss**2,  a*d**2 + 2*a*d*(loss-d))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return x - pen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# backward sweep: fit C_t = u(W) + A_t via the Huge-Savine twin loss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for t in reversed(range(T)):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S, W, q_prev = sample_states(t)                        # outer draws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grid = action_grid(q_prev, cap=50, short_only=True)    # mask-aware, cap-pruned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q*   = argmax_a  E_inner[ C_{t+1}(f(S,eps), W + pnl(S,eps,a)) ]   # Bellman max OUTSIDE net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    #      inner expectation via ONE-STEP antithetic MC forks (bootstrap label)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y, dy = bootstrap_value_and_pathwise_grad(t, S, W, q*)  # value + AAD Jacobian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A_t   = fit(nets[t], value=y - u(W), grad=dy)           # twin loss, per-column normalised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clamp A_t to trust region [a_lo, a_hi]                  # kill off-support extrapolation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# verdict on a held-out split, then hand back a deployable policy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assert ladder(hindsight &gt;= greedy &gt;= textbook)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return policy_artifact(nets, standardization_frames, utility_scale, config_hash)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diffsolver_v2.py · hedge_solver.py · utility exactly hedge_bundle._utility_wrap_signed (a=Huber_Aversion, d=Huber_Delta).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calibration → backtest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37360"/>
            <a:ext cx="11055096" cy="4023360"/>
          </a:xfrm>
          <a:prstGeom prst="rect">
            <a:avLst/>
          </a:prstGeom>
          <a:solidFill>
            <a:srgbClr val="F6F7F9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76200" tIns="88900" bIns="76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for quarter q in walk_forward(2021-01 .. 2022-12):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hist   = archive[: q.calibration_date]            # strictly no lookahead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world  = calibrate(hist)                          # HMM spot P + AR(1) basis 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assert abs(E[dF | b]) small on every tradeable    # martingale guard, else REJECT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policy = DiffSolverV2.solve(world, aversion=6)     # train in the simulated world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freeze(policy)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for day in q.trading_days:                        # roll on the REALIZED path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    m = realized_market[day]                      # strictly causal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    a = policy.decide(m, stepper.wealth)          # off the stepper's OWN wealth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    stepper.step(a)                               # var margin, financing, expiry, forced-flat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row = record(greedy, nohedge, pf_bound, bound_pass)   # per-trade causal ceiling stamped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assert row.greedy &lt;= row.pf_bound                     # falsification check on every trade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production_walk_forward.py · calibrate_platinum.py. Seed 7, single seed per trade.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reproducibility manifest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Every headline number in this deck was recomputed from these artifacts.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83 tests collected · commits verified in git log · all $/oz stats recomputed from the CSVs above.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011680"/>
          <a:ext cx="11055095" cy="4206240"/>
        </p:xfrm>
        <a:graphic>
          <a:graphicData uri="http://schemas.openxmlformats.org/drawingml/2006/table">
            <a:tbl>
              <a:tblPr/>
              <a:tblGrid>
                <a:gridCol w="3246120"/>
                <a:gridCol w="7808975"/>
              </a:tblGrid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Artifact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Path / value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4-year walk-forward (baseline)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artifacts/walk_forward/full48_baseline.csv  (48 trades, 3-seed ensemble, roll-inner 512)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Corridor frontier rolls (144)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artifacts/walk_forward/full48_corridor_rolls.csv  (bands 0.25 / 0.40 / 0.60)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Train-in-corridor + in-sim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train_in_corridor_subset.csv · tb_insim_202105_b040.json · tb_insim_202102_b040.json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Band-selection study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adaptive_corridor_sweep.csv · adaptive_corridor_verdict.md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Loss-attribution panel (40 mo)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lf2_forensics.csv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Corridor close-out note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STATUS_NOTE_corridor.md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2-year interim runs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aversion6_24trade_final.csv · aversion6_reverify_committed_pipeline.csv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Raw data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data/pl_exp.csv  (3,856 rows, 2009–2025)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Test suite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83 tests  (bit-gates: fixture V_0, stepper floats, corridor trajectory L1 = 0)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Commits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c87284d · f8c067b · 5460692 · 74ef6de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Seeds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ensemble 7 / 42 / 314 · roll-inner 512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FOUR-YEAR UPDATE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Four-year walk-forward — 48 trades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Jan-2020 through Dec-2023, including the COVID-2020 shock. The 24-month result becomes an interim milestone.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6583680" cy="3566160"/>
        </p:xfrm>
        <a:graphic>
          <a:graphicData uri="http://schemas.openxmlformats.org/drawingml/2006/table">
            <a:tbl>
              <a:tblPr/>
              <a:tblGrid>
                <a:gridCol w="3017520"/>
                <a:gridCol w="1783080"/>
                <a:gridCol w="1783080"/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Statistic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Ensemble baseline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Corridor 0.60 (shipped)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Trades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Mean ($/oz)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+22.09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+23.10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Std dev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88.15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60.41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−143.70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−102.22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+7.83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+16.57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Causal-bound PASS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/ 48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/ 48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Corridor breaches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0 / 144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06640" y="2103120"/>
          <a:ext cx="4215384" cy="2377440"/>
        </p:xfrm>
        <a:graphic>
          <a:graphicData uri="http://schemas.openxmlformats.org/drawingml/2006/table">
            <a:tbl>
              <a:tblPr/>
              <a:tblGrid>
                <a:gridCol w="2606040"/>
                <a:gridCol w="1609344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Calendar year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Baseline mean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2020  (COVID)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+27.54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+24.29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−4.52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+41.07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06640" y="4663440"/>
            <a:ext cx="421538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3A42"/>
                </a:solidFill>
                <a:latin typeface="Calibri"/>
              </a:rPr>
              <a:t>2020 stayed positive through the crash · 2022 the flat year (margins compressed) · 2023 strongest.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artifacts/walk_forward/full48_baseline.csv · full48_corridor_rolls.csv. Every row bounded below by no-hedge, above by perfect-foresight on the traded leg.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FOUR-YEAR UPDATE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What four years taught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Three findings that shape how the result is read and reported.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1055096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The policy = a locked-margin hedge + a zero-mean overlay.  </a:t>
            </a:r>
            <a:r>
              <a:rPr sz="1550" b="0">
                <a:solidFill>
                  <a:srgbClr val="22262A"/>
                </a:solidFill>
                <a:latin typeface="Calibri"/>
              </a:rPr>
              <a:t>On the 40-month attribution panel the hedge earns the locked margin (+17.2 $/oz); the directional overlay adds +2.4 $/oz — statistically zero (t ≈ 0.2) — but swings ≈ ±$79/oz per month. So single months are noise; only the 48-trade mean is ever quoted.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Roll-month dispersion is Monte-Carlo forecast noise, not model variance.  </a:t>
            </a:r>
            <a:r>
              <a:rPr sz="1550" b="0">
                <a:solidFill>
                  <a:srgbClr val="22262A"/>
                </a:solidFill>
                <a:latin typeface="Calibri"/>
              </a:rPr>
              <a:t>Raising the roll-time inner batch 64 → 512 collapsed per-month seed dispersion 168.5 → 62.9 $/oz (−63%, the √8 Monte-Carlo rate). Methodology hardening, now standard.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2022 was a flat year, not a model failure.  </a:t>
            </a:r>
            <a:r>
              <a:rPr sz="1550" b="0">
                <a:solidFill>
                  <a:srgbClr val="22262A"/>
                </a:solidFill>
                <a:latin typeface="Calibri"/>
              </a:rPr>
              <a:t>The baseline mean dipped to −4.5 $/oz — the weakest of the four — as dealer margins compressed, yet 12/12 trades stayed causally bounded. 2020 rode the COVID crash to +27.5; 2023 was strongest at +41.1.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lf2_forensics.csv (40-mo attribution) · full48_baseline.csv (per-year). Roll-inner dispersion from the walk-forward ensemble methodology (roll-inner 512).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VARIANCE CONTROL  · 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The delta corridor — a fence we know in advance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The average-price swap’s hedge ratio is deterministic at trade date. We fence the book to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69037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Known delta ramp.  </a:t>
            </a:r>
            <a:r>
              <a:rPr sz="1550" b="0">
                <a:solidFill>
                  <a:srgbClr val="22262A"/>
                </a:solidFill>
                <a:latin typeface="Calibri"/>
              </a:rPr>
              <a:t>For a 3-month average-price swap the hedge delta is deterministic: full cover before the averaging window, then declining linearly to zero as fixings accumulate. No forecast required.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The corridor.  </a:t>
            </a:r>
            <a:r>
              <a:rPr sz="1550" b="0">
                <a:solidFill>
                  <a:srgbClr val="22262A"/>
                </a:solidFill>
                <a:latin typeface="Calibri"/>
              </a:rPr>
              <a:t>We fence the signed total position to that ramp ± a band, enforced inside the decision grid (HedgeActionSpace.grid_at) so every action the solver can take already obeys it.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Live-aware near expiry.  </a:t>
            </a:r>
            <a:r>
              <a:rPr sz="1550" b="0">
                <a:solidFill>
                  <a:srgbClr val="22262A"/>
                </a:solidFill>
                <a:latin typeface="Calibri"/>
              </a:rPr>
              <a:t>The fence shortens on live legs, so realized positions can never breach it.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Result.  </a:t>
            </a:r>
            <a:r>
              <a:rPr sz="1550" b="0">
                <a:solidFill>
                  <a:srgbClr val="22262A"/>
                </a:solidFill>
                <a:latin typeface="Calibri"/>
              </a:rPr>
              <a:t>0 breaches across all 144 validation rolls (48 trades × 3 bands). Infeasible schedules fail loud.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331720"/>
            <a:ext cx="3895344" cy="3108960"/>
          </a:xfrm>
          <a:prstGeom prst="roundRect">
            <a:avLst/>
          </a:prstGeom>
          <a:solidFill>
            <a:srgbClr val="F2F4F6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THE RAMP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>Full short before averaging starts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>↓  linear decay across the fixings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>→  zero at expiry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>Net position held within ± band of that path — decided, not predicted.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Enforced once in HedgeActionSpace.grid_at(t); driver flag --delta-corridor BAND. full48_corridor_rolls.csv: breaches = 0 in every row.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VARIANCE CONTROL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The corridor frontier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Tighter bands trade a little mean for a lot less variance. Band 0.60 is shipped.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94560"/>
          <a:ext cx="11055096" cy="2651760"/>
        </p:xfrm>
        <a:graphic>
          <a:graphicData uri="http://schemas.openxmlformats.org/drawingml/2006/table">
            <a:tbl>
              <a:tblPr/>
              <a:tblGrid>
                <a:gridCol w="3054096"/>
                <a:gridCol w="1600200"/>
                <a:gridCol w="1600200"/>
                <a:gridCol w="1600200"/>
                <a:gridCol w="1600200"/>
                <a:gridCol w="160020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Mean $/oz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p10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Std vs base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Unfenced 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+22.09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88.15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−143.70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−83.48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Band 0.60  (shipped)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+23.10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60.41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−102.22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−52.58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−32%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Band 0.40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+18.64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47.42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−72.18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−33.12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−46%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Band 0.25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+16.88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38.16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−66.21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−24.56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−57%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074920"/>
            <a:ext cx="1105509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0">
                <a:solidFill>
                  <a:srgbClr val="22262A"/>
                </a:solidFill>
                <a:latin typeface="Calibri"/>
              </a:rPr>
              <a:t>All bands: 48/48 causal-bound PASS, 0 breaches. Band 0.60 Pareto-dominates the baseline — higher mean, lower std. Band 0.40 is available where the mandate wants a deeper risk cut (−46%).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artifacts/walk_forward/full48_corridor_rolls.csv · full48_baseline.csv (48 trades each). p10 = 10th percentile of realized $/oz.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VARIANCE CONTROL  · 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A risk control, not a P&amp;L enhancer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Management-grade honesty: the mean differences are noise; the variance ordering is certain.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69037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Mean differences are noise.  </a:t>
            </a:r>
            <a:r>
              <a:rPr sz="1550" b="0">
                <a:solidFill>
                  <a:srgbClr val="22262A"/>
                </a:solidFill>
                <a:latin typeface="Calibri"/>
              </a:rPr>
              <a:t>Band 0.60 vs unfenced: paired Δ = +1.0 $/oz, SE 6.2, t = 0.16. Band 0.40 vs 0.60: Δ = −4.5 ± 2.9, t = −1.5. Neither is distinguishable from zero.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The variance cut is certain.  </a:t>
            </a:r>
            <a:r>
              <a:rPr sz="1550" b="0">
                <a:solidFill>
                  <a:srgbClr val="22262A"/>
                </a:solidFill>
                <a:latin typeface="Calibri"/>
              </a:rPr>
              <a:t>std(fenced) &lt; std(unfenced) in 100% of 20,000 paired bootstraps, for every band.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Where the P&amp;L comes from.  </a:t>
            </a:r>
            <a:r>
              <a:rPr sz="1550" b="0">
                <a:solidFill>
                  <a:srgbClr val="22262A"/>
                </a:solidFill>
                <a:latin typeface="Calibri"/>
              </a:rPr>
              <a:t>The locked dealer margin, not a market view. A configuration that reliably predicted a month’s direction would be the phantom-alpha bug we eliminated in the integrity review — the corrected world is built E[dF] = 0 by construction.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514600"/>
            <a:ext cx="3895344" cy="2651760"/>
          </a:xfrm>
          <a:prstGeom prst="roundRect">
            <a:avLst/>
          </a:prstGeom>
          <a:solidFill>
            <a:srgbClr val="2B3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250" b="1">
                <a:solidFill>
                  <a:srgbClr val="8EC6EC"/>
                </a:solidFill>
                <a:latin typeface="Calibri"/>
              </a:rPr>
              <a:t>THE MESSAGE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The corridor is insurance on the variance —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priced at ≈ $0 of expected P&amp;L.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That is exactly what a martingale-disciplined model must show.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Paired stats and 20k paired bootstrap (seed 12345) recomputed from full48_baseline.csv + full48_corridor_rolls.csv.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VARIANCE CONTROL  · 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One model serves any mandate band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We retrained the whole stack inside the fence. It changed nothing — by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03120"/>
            <a:ext cx="1105509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Train-inside-the-fence = train-then-fence.  </a:t>
            </a:r>
            <a:r>
              <a:rPr sz="1500" b="0">
                <a:solidFill>
                  <a:srgbClr val="22262A"/>
                </a:solidFill>
                <a:latin typeface="Calibri"/>
              </a:rPr>
              <a:t>Retraining the full solver inside the corridor reproduced the roll-time-fence trajectories bit-for-bit (L1 = 0.0; e.g. 202105 wT = −$60,552.66 both ways, 202102 wT = +$326,660.72 both ways). In-sim utility moved by ≈ 2×10⁻⁵ (noise).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Deployment consequence.  </a:t>
            </a:r>
            <a:r>
              <a:rPr sz="1500" b="0">
                <a:solidFill>
                  <a:srgbClr val="22262A"/>
                </a:solidFill>
                <a:latin typeface="Calibri"/>
              </a:rPr>
              <a:t>One corridor-free checkpoint set covers every mandate band; fences are applied at roll time against provenance-checked artifacts. No per-client retraining.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The band cannot be timed from inside the model.  </a:t>
            </a:r>
            <a:r>
              <a:rPr sz="1500" b="0">
                <a:solidFill>
                  <a:srgbClr val="22262A"/>
                </a:solidFill>
                <a:latin typeface="Calibri"/>
              </a:rPr>
              <a:t>A fenced-utility selector picks the right band only 29–31% of the time (33% = chance); u-margin vs realized-margin correlation ≈ 0. Consistent with martingale discipline.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The prize needs outside information.  </a:t>
            </a:r>
            <a:r>
              <a:rPr sz="1500" b="0">
                <a:solidFill>
                  <a:srgbClr val="22262A"/>
                </a:solidFill>
                <a:latin typeface="Calibri"/>
              </a:rPr>
              <a:t>Hindsight-optimal per-month band selection over {0.40, 0.60, unfenced} would have returned +43.6 $/oz vs +23.1 shipped — ≈ +20/oz of headroom, reachable only with genuine external signal (see Future Work).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tb_insim_202105_b040.json · tb_insim_202102_b040.json · train_in_corridor_subset.csv · adaptive_corridor_sweep.csv / _verdict.md.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Six scoped items, ordered by leverage.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33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48840"/>
          <a:ext cx="11055095" cy="3977638"/>
        </p:xfrm>
        <a:graphic>
          <a:graphicData uri="http://schemas.openxmlformats.org/drawingml/2006/table">
            <a:tbl>
              <a:tblPr/>
              <a:tblGrid>
                <a:gridCol w="3246120"/>
                <a:gridCol w="7808975"/>
              </a:tblGrid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Plan / value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Book of APS — netted corridors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Net fence across deals (e.g. 2 long + 1 short, expiries ≤ 4 mo). Sign-crossing schedules already supported; needs a book-level driver + validation.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Band adaptivity from EXTERNAL signal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Condition the band on realized vol / regime state; leave-one-out validated on the 48 months. The only route to the ≈ +20/oz hindsight headroom.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Realistic CME friction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Replace the flat 10 bps bid-offer with calibrated exchange fee + market-impact data.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Re-validate cross-market dual-strip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Confirm the CME-strip / LME-liability edge holds in the corrected martingale world.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Hard calibration gate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Make E[dF] ≈ 0 on every tradeable a blocking check at every calibration — institutionalize the integrity lesson.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Multi-GPU scale-out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Recipe documented for 4×A100 servers (batch / inner parameters).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STATUS_NOTE_corridor.md open items. Machinery: Total_Position_Schedule — per-step [Min_Total, Max_Total] knots on the signed total position.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