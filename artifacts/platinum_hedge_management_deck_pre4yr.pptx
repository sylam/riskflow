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MANAGEMENT FEEDBACK   ·   PLATINUM HEDGING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22262A"/>
                </a:solidFill>
                <a:latin typeface="Calibri"/>
              </a:rPr>
              <a:t>Hedging the Platinum Prepay / Offtake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63240"/>
            <a:ext cx="11055096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A dynamic-programming hedge for a 3-month LBMA platinum average-price swap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24-month walk-forward backtest, results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+$18/oz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mean edge over 24 monthly trades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24 /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trades inside the causal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±$1/oz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mean reproduced across independent re-runs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8"/>
                </a:solidFill>
                <a:latin typeface="Calibri"/>
              </a:rPr>
              <a:t>Quant Hedging  ·  2026-07-14  ·  All figures recomputed from committed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ASK, AND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Can we systematically hedge the book and keep the dealer margin? Yes — and every number below is traceable to an artifact.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3328416"/>
        </p:xfrm>
        <a:graphic>
          <a:graphicData uri="http://schemas.openxmlformats.org/drawingml/2006/table">
            <a:tbl>
              <a:tblPr/>
              <a:tblGrid>
                <a:gridCol w="4643140"/>
                <a:gridCol w="4643140"/>
                <a:gridCol w="176881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Mean edge, 24 monthly trades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+18.19 $/oz   (≈ $45k / trade on 2,500 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Run 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Independent re-run (fresh calib + RNG)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+17.58 $/oz   (≈ $44k / trade)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Run B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Reproducibility of the mean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Δ -0.61 $/oz between the two runs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paired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Causality check (per-trade bound)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 PASS in both runs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vs unhedged book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  vs  -2.54 $/oz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vs static full-lock benchmark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  vs  +15.25 $/oz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attribution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3A42"/>
                </a:solidFill>
                <a:latin typeface="Calibri"/>
              </a:rPr>
              <a:t>THE RULE:  single months are seed-noise (±$100/oz). The 24-trade MEAN is the reproducible statistic — that is what we quote.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artifacts/walk_forward/aversion6_24trade_final.csv (Run A) · aversion6_reverify_committed_pipeline.csv (Run 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LAYERED BY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deck deepens as it goes. Stop wherever the detail exceeds your need.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4114800"/>
        </p:xfrm>
        <a:graphic>
          <a:graphicData uri="http://schemas.openxmlformats.org/drawingml/2006/table">
            <a:tbl>
              <a:tblPr/>
              <a:tblGrid>
                <a:gridCol w="1547713"/>
                <a:gridCol w="6854159"/>
                <a:gridCol w="265322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 – 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Executive — the ask and the answer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Decision-makers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4 – 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trade and why hedging it is hard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6 – 11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Methodology: data → decomposition → model → guard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product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12 – 15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solver and the verification machinery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16 – 21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Results: headline, stability, attribution, benchmarks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22 –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Integrity: how we caught our own too-good result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25 – 26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Caveats and recommended next steps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27 – 30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 appendix: equations, pseudo-code, manifest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Executive → increasingly detailed → quant-grade, ending in pseudo-code and a reproducibility manifest.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 3-month average-price platinum swap, hedged with exchange futures.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4114800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Underlying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  (USD / 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3-month arithmetic average-price swap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Notional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2,500 oz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Strike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fair − $8 / oz   (the dealer margin)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Hedge instruments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front-3 CME platinum futures  (50 oz / contract)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constraint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short-only, total cap 50 contracts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Rebalancing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Transaction cost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half of a 10 bps bid/offer on notional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Fixture: tests/fixtures/policy_test_simulate_only.json · per-leg strike lives in Fixed_Basis, never hardcoded.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Why a static short is the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Three structural frictions make a fixed hedge ratio leak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Two clocks.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prices off the LBMA 2 pm fix; the hedge trades CME futures. They are not the same price at the same instant — the fix reads CME roughly 19 hours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Basis risk.  </a:t>
            </a:r>
            <a:r>
              <a:rPr sz="1700">
                <a:solidFill>
                  <a:srgbClr val="22262A"/>
                </a:solidFill>
                <a:latin typeface="Calibri"/>
              </a:rPr>
              <a:t>LBMA minus the CME continuous spot has σ ≈ 16.5 $/oz and mean-reverts. A fixed hedge ratio leaves this un-neutralised.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Average-price optionality.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references a 3-month average, so hedge sensitivity decays deterministically as fixings accrue — the correct hedge ratio changes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77B4"/>
                </a:solidFill>
                <a:latin typeface="Calibri"/>
              </a:rPr>
              <a:t>The optimal hedge is dynamic and basis-aware — exactly what a static lock cannot deliver.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Methodology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Raw data → clean decomposition → identified joint law → simulated world → frozen policy → realized-path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pl_exp.csv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4476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780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780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Decompose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carry · spot · basis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8328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4632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4632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4632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Identify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κ = 1 − φ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2180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8484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8484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8484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Calibrate world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HMM + AR(1) basis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6032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2336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2336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Solve &amp; FREEZE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policy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39884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8618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618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18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Roll on the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REALIZED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B3A42"/>
                </a:solidFill>
                <a:latin typeface="Calibri"/>
              </a:rPr>
              <a:t>The next five slides walk this pipeline left to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data — one archive, fully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model input comes from a single committed CSV.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3328416"/>
        </p:xfrm>
        <a:graphic>
          <a:graphicData uri="http://schemas.openxmlformats.org/drawingml/2006/table">
            <a:tbl>
              <a:tblPr/>
              <a:tblGrid>
                <a:gridCol w="2432121"/>
                <a:gridCol w="862297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data/pl_exp.csv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3,856 daily observations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2009 – 2025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Futures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CME PL1 / PL2 / PL3 settles + open interest + contract τ and expiries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Rates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full USD-SOFR zero curve (48 tenors)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data/pl_exp.csv — 3,856 rows confirmed by wc -l (header + 3,856).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clean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Strip the observable prices into three economically-clean state variables.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4" cy="2267712"/>
        </p:xfrm>
        <a:graphic>
          <a:graphicData uri="http://schemas.openxmlformats.org/drawingml/2006/table">
            <a:tbl>
              <a:tblPr/>
              <a:tblGrid>
                <a:gridCol w="3095426"/>
                <a:gridCol w="4643140"/>
                <a:gridCol w="331652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 (measured)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Calendar carry  c₁₂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ln(F2/F1)/(τ2−τ1) − forward SOFR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autocorr 0.97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CME continuous spot  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F1 · exp(−(rf + c)·τ1)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the tradeable primary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Basis  b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LBMA fix − 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σ 16.50, level autocorr 0.34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Carry is near-permanent (autocorr 0.97); the basis is a fast, mean-reverting echo (σ 16.5). These are the only moving parts the hedge must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basis std 16.50, level autocorr 0.336.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key empirical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One number, measured two independent ways, agrees — so the joint law is identified, not fitted.</a:t>
            </a:r>
          </a:p>
        </p:txBody>
      </p:sp>
      <p:pic>
        <p:nvPicPr>
          <p:cNvPr id="7" name="Picture 6" descr="deck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035040" cy="42625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Catch-up.  </a:t>
            </a:r>
            <a:r>
              <a:rPr sz="1500">
                <a:solidFill>
                  <a:srgbClr val="22262A"/>
                </a:solidFill>
                <a:latin typeface="Calibri"/>
              </a:rPr>
              <a:t>Regress dS(t+1) on the CME−fix gap → κ = 0.647/day (t = +51).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Reversion.  </a:t>
            </a:r>
            <a:r>
              <a:rPr sz="1500">
                <a:solidFill>
                  <a:srgbClr val="22262A"/>
                </a:solidFill>
                <a:latin typeface="Calibri"/>
              </a:rPr>
              <a:t>Basis AR(1) autocorr → 1 − φ = 0.66.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They match.  </a:t>
            </a:r>
            <a:r>
              <a:rPr sz="1500">
                <a:solidFill>
                  <a:srgbClr val="22262A"/>
                </a:solidFill>
                <a:latin typeface="Calibri"/>
              </a:rPr>
              <a:t>CME is the price; the fix reads it ~19 h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And CME is a martingale.  </a:t>
            </a:r>
            <a:r>
              <a:rPr sz="1500">
                <a:solidFill>
                  <a:srgbClr val="22262A"/>
                </a:solidFill>
                <a:latin typeface="Calibri"/>
              </a:rPr>
              <a:t>dF(t+1) on b: |t| &lt; 1 — no executable drift to farm.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κ 0.647 (t +51.4), 1−φ 0.664, martingale dF~b slope 0.014 (|t| 0.7).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Model structure — drift where it belongs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tradeable leg is a martingale; the catch-up drift lives on the fixing leg the swap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77B4"/>
                </a:solidFill>
                <a:latin typeface="Calibri"/>
              </a:rPr>
              <a:t>CommodityPrice.PLATINUM_CME = P  (martingale 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Regime-switching HMM, 3 regimes (crash μ = −0.33, sane on the CME series). The futures reference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3756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290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CA02C"/>
                </a:solidFill>
                <a:latin typeface="Calibri"/>
              </a:rPr>
              <a:t>CommodityBasis.LME_CME = b  (AR(1) vs P, σ 16.5)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fast mean-reverting echo between the exchange and the fixing.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E0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177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06A0A"/>
                </a:solidFill>
                <a:latin typeface="Calibri"/>
              </a:rPr>
              <a:t>Observable LBMA fixing  S = P + b  (composed)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8348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swap references this — so it inherits the catch-up. The hedge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310896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Before the fix, the basis drift sat on the TRADEABLE leg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so the solver farmed a reversion that is unexecutable in reality.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(See the integrity section.)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MarketDataRF_platinum_calibrated_cme.json · calibrated on the CME series (crash μ −0.33 vs pathological −3.66 on LBMA).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standing guard at every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one question asked of every calibration: is there executable drift on the tradeables? There must not be.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2194560"/>
        </p:xfrm>
        <a:graphic>
          <a:graphicData uri="http://schemas.openxmlformats.org/drawingml/2006/table">
            <a:tbl>
              <a:tblPr/>
              <a:tblGrid>
                <a:gridCol w="5085344"/>
                <a:gridCol w="2432121"/>
                <a:gridCol w="353763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E[dF | b] on CME  (martingale)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slope 0.014,  |t| = 0.7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Catch-up on the fixing leg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 ≈ −45 to −51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Basis σ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16.5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3A42"/>
                </a:solidFill>
                <a:latin typeface="Calibri"/>
              </a:rPr>
              <a:t>If any future shows tradeable drift, the calibration is REJECTED before a single solve. This is the guard that a prior model version lacked.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Guard asserts executed green in platinum_hedge_validation.ipynb; recomputed dF~b |t|=0.7 on data/pl_exp.csv.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solver, in plain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Backward dynamic programming with a learned, position-free value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Work backwards from expiry.  </a:t>
            </a:r>
            <a:r>
              <a:rPr sz="1600">
                <a:solidFill>
                  <a:srgbClr val="22262A"/>
                </a:solidFill>
                <a:latin typeface="Calibri"/>
              </a:rPr>
              <a:t>Each day, ask: given today's market and book, which hedge maximises expected end-of-deal utility?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Position-free continuation.  </a:t>
            </a:r>
            <a:r>
              <a:rPr sz="1600">
                <a:solidFill>
                  <a:srgbClr val="22262A"/>
                </a:solidFill>
                <a:latin typeface="Calibri"/>
              </a:rPr>
              <a:t>C_t(market, W) = u(W) + A_t(market, W) is learned by a small net per timestep (~1.4k params). Position-free, so one fit serves every candidate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The choice sits outside the net.  </a:t>
            </a:r>
            <a:r>
              <a:rPr sz="1600">
                <a:solidFill>
                  <a:srgbClr val="22262A"/>
                </a:solidFill>
                <a:latin typeface="Calibri"/>
              </a:rPr>
              <a:t>The Bellman max is an explicit search over an allowed action grid — respecting the 50-contract cap and short-only rule — not baked into the fitted value.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Train, then freeze.  </a:t>
            </a:r>
            <a:r>
              <a:rPr sz="1600">
                <a:solidFill>
                  <a:srgbClr val="22262A"/>
                </a:solidFill>
                <a:latin typeface="Calibri"/>
              </a:rPr>
              <a:t>The policy is trained in the calibrated simulated world and then FROZEN before it ever touches realized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utility: hedge_bundle._utility_wrap_signed (single source of truth).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objective: downside-asymmetric utility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optimise utility, not raw P&amp;L — and aversion is the single tuned lever.</a:t>
            </a:r>
          </a:p>
        </p:txBody>
      </p:sp>
      <p:pic>
        <p:nvPicPr>
          <p:cNvPr id="7" name="Picture 6" descr="deck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6309360" cy="3923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20574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62A"/>
                </a:solidFill>
                <a:latin typeface="Calibri"/>
              </a:rPr>
              <a:t>Aversion sweep  (mean net $/oz)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0" y="2514600"/>
          <a:ext cx="457200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Aversion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+4.74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net-negative bets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SHIPPED (best)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no reproducible gain*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5029200"/>
            <a:ext cx="46634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B3A42"/>
                </a:solidFill>
                <a:latin typeface="Calibri"/>
              </a:rPr>
              <a:t>Gains stay linear (never taxed); small losses curve; the deep tail is linear (no runaway penalty). Raising aversion past 6 buys no reproducible 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Full-24 means: la_attribution.csv (av 2.5) · aversion6_24trade_final.csv (av 6). * Av 12 = 10-trade sweep subset, Δ within ±$100/oz seed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walk-forward protocol — no lookahead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No lookahead anywhere. This is the defensibility core of the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on data ≤ 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99716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7732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7732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Train policy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in sim world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FREEZE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1324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9340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Roll day-by-day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REALIZED path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82128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Stamp per-trade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causal bound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42932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094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094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Recalibrate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next quarter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0"/>
            <a:ext cx="110550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Strictly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Spot history strictly before each trade date; quarterly recalibration on data ≤ calibration date only.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Real accounting.  </a:t>
            </a:r>
            <a:r>
              <a:rPr sz="1550">
                <a:solidFill>
                  <a:srgbClr val="22262A"/>
                </a:solidFill>
                <a:latin typeface="Calibri"/>
              </a:rPr>
              <a:t>Rolled through a real futures stepper: variation margin, financing, per-instrument expiry, forced-flat.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Provably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Decisions run off the stepper's own wealth — bit-identical when the future is erased.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production_walk_forward.py: calibrate → train → freeze → roll. Future-erasure test proves causality.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Verification machinery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run carries its own falsification tests — so a wrong answer trips a wire.</a:t>
            </a:r>
          </a:p>
        </p:txBody>
      </p:sp>
      <p:pic>
        <p:nvPicPr>
          <p:cNvPr id="7" name="Picture 6" descr="deck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400800" cy="3915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Causal ceiling.  </a:t>
            </a:r>
            <a:r>
              <a:rPr sz="1500">
                <a:solidFill>
                  <a:srgbClr val="22262A"/>
                </a:solidFill>
                <a:latin typeface="Calibri"/>
              </a:rPr>
              <a:t>Per trade: unhedged + perfect-foresight harvest on the traded strip. 48/48 trades (both runs) inside.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Acceptance ladder.  </a:t>
            </a:r>
            <a:r>
              <a:rPr sz="1500">
                <a:solidFill>
                  <a:srgbClr val="22262A"/>
                </a:solidFill>
                <a:latin typeface="Calibri"/>
              </a:rPr>
              <a:t>Checked per run: hindsight ≥ greedy ≥ textbook.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Bitwise anchors.  </a:t>
            </a:r>
            <a:r>
              <a:rPr sz="1500">
                <a:solidFill>
                  <a:srgbClr val="22262A"/>
                </a:solidFill>
                <a:latin typeface="Calibri"/>
              </a:rPr>
              <a:t>Fixture V_0 and stepper floats are byte-locked; any code change that moves them fails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Both CSVs: bound_pass = True on 24/24 rows. Bit-gates: fixture V_0 + stepper floats (65-test suite).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Headline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Two independent full re-runs of the 24-month walk-forward (Jan-2021 … Dec-2022, monthly trades).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4" cy="3950208"/>
        </p:xfrm>
        <a:graphic>
          <a:graphicData uri="http://schemas.openxmlformats.org/drawingml/2006/table">
            <a:tbl>
              <a:tblPr/>
              <a:tblGrid>
                <a:gridCol w="4422038"/>
                <a:gridCol w="3316528"/>
                <a:gridCol w="331652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A  (goal)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B  (re-verify)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Mean  ($/oz)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+17.58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+10.33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-166.14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-106.79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+214.80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+238.05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92.73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87.18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Positive trades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Unhedged mean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aversion6_24trade_final.csv (Run A) · aversion6_reverify_committed_pipeline.csv (Run B). Same realized path; fresh calibration + RNG in 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Cumulative edge over 24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hedged book compounds a positive edge; the unhedged book drifts negative.</a:t>
            </a:r>
          </a:p>
        </p:txBody>
      </p:sp>
      <p:pic>
        <p:nvPicPr>
          <p:cNvPr id="7" name="Picture 6" descr="deck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15" y="1874519"/>
            <a:ext cx="7200984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3A42"/>
                </a:solidFill>
                <a:latin typeface="Calibri"/>
              </a:rPr>
              <a:t>Cumulative net P&amp;L over the 24 monthly trades:   DP hedge +437 $/oz    vs    unhedged −61 $/oz.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Cumulative sums of the greedy and unhedged columns, aversion6_24trade_final.csv.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Month by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Individual months are dominated by seed noise (±$100/oz). Do not read single months.</a:t>
            </a:r>
          </a:p>
        </p:txBody>
      </p:sp>
      <p:pic>
        <p:nvPicPr>
          <p:cNvPr id="7" name="Picture 6" descr="deck_per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74" y="1920240"/>
            <a:ext cx="9527866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Per-month greedy and unhedged $/oz, aversion6_24trade_final.csv. Dashed lines = 24-trade means.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Reproducibility — quote means, never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mean reproduces to ±$1/oz across independent pipelines; single months do not.</a:t>
            </a:r>
          </a:p>
        </p:txBody>
      </p:sp>
      <p:pic>
        <p:nvPicPr>
          <p:cNvPr id="7" name="Picture 6" descr="dec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4831451" cy="4434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4688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Means agree.  </a:t>
            </a:r>
            <a:r>
              <a:rPr sz="1550">
                <a:solidFill>
                  <a:srgbClr val="22262A"/>
                </a:solidFill>
                <a:latin typeface="Calibri"/>
              </a:rPr>
              <a:t>Run A +18.19, Run B +17.58; difference -0.61 $/oz.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Months do not.  </a:t>
            </a:r>
            <a:r>
              <a:rPr sz="1550">
                <a:solidFill>
                  <a:srgbClr val="22262A"/>
                </a:solidFill>
                <a:latin typeface="Calibri"/>
              </a:rPr>
              <a:t>Sign agreement only 12/24; max month-level gap 240 $/oz.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Implication.  </a:t>
            </a:r>
            <a:r>
              <a:rPr sz="1550">
                <a:solidFill>
                  <a:srgbClr val="22262A"/>
                </a:solidFill>
                <a:latin typeface="Calibri"/>
              </a:rPr>
              <a:t>A single month is a draw from a ±$100/oz distribution. The 24-trade mean is the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Run A vs Run B per trade, both walk-forward CSVs. Δmean −0.61, sign-agreement 12/24, max|Δ| 240 $/oz.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Attribution — the lever is aversion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edge comes from downside aversion, not from trading more.</a:t>
            </a:r>
          </a:p>
        </p:txBody>
      </p:sp>
      <p:pic>
        <p:nvPicPr>
          <p:cNvPr id="7" name="Picture 6" descr="deck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267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94560"/>
            <a:ext cx="329184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Baseline (av 2.5)  +4.74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=  full-lock 15.25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active bets 4.43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excess churn 6.08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Raise Huber aversion → 6: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+13.45  →  +18.19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Losers recovered hard;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winners kept ~all.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la_attribution.csv (aversion 2.5 baseline) + aversion6_24trade_final.csv (aversion 6).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DP hedge beats the static full-lock on mean, with managed dispersion.</a:t>
            </a:r>
          </a:p>
        </p:txBody>
      </p:sp>
      <p:pic>
        <p:nvPicPr>
          <p:cNvPr id="7" name="Picture 6" descr="deck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22291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286000"/>
            <a:ext cx="356616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Static full-lock, verified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through the REAL stepper: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+15.25 net 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   margin 8.00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 realized basis drift 8.29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−  lock cost 1.01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Full-lock verified through the real stepper. Benchmarks frictionless; net-of-cost reported uniformly.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Integrity: how we caught our own too-good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An earlier model version reported +$675/oz — implausible against an $8 margin. We did not ship it. We tried to break it.</a:t>
            </a:r>
          </a:p>
        </p:txBody>
      </p:sp>
      <p:pic>
        <p:nvPicPr>
          <p:cNvPr id="7" name="Picture 6" descr="deck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95" y="1920240"/>
            <a:ext cx="768882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6072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We had already built a hard causal bound (unhedged + perfect-foresight harvest on the traded strip). The +675 result VIOLATED it on multiple months. A number that beats what perfect foresight allows is not a profit — it is a bug. That triggered a forensic tear-down.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Mean causal ceiling ≈ 687 $/oz (mean of pf_bound, aversion6_24trade_final.csv). Old +675 figure is the pre-fix reported mean.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forensic exoneration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localised the error by elimination — accounting and causality were cleared; the model was the culprit.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2267712"/>
        </p:xfrm>
        <a:graphic>
          <a:graphicData uri="http://schemas.openxmlformats.org/drawingml/2006/table">
            <a:tbl>
              <a:tblPr/>
              <a:tblGrid>
                <a:gridCol w="2432121"/>
                <a:gridCol w="4864242"/>
                <a:gridCol w="375873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Suspect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Stepper accounting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static-short replay through the real stepper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Look-ahead in decisions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future-erasure: erase the future, re-decide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 (bit-identical)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The model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E[dF | b] on the tradeable futures leg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GUILTY:  +0.65·b / day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09160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B52A2A"/>
                </a:solidFill>
                <a:latin typeface="Calibri"/>
              </a:rPr>
              <a:t>Root cause:  the basis's mean-reversion was placed on the TRADEABLE futures leg. The solver — correctly — farmed a drift of +0.65·b per day. But raw CME is a martingale: that drift does not exist in reality, so it is unexecutable.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Root-cause slope E[dF|b] ≈ +0.65·b/day on the mis-specified leg; corrected model measures |t|=0.7 (nil).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fix, and the guards now 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Fix the model; then make the same failure impossible to repeat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Composed-spot inversion.  </a:t>
            </a:r>
            <a:r>
              <a:rPr sz="1550">
                <a:solidFill>
                  <a:srgbClr val="22262A"/>
                </a:solidFill>
                <a:latin typeface="Calibri"/>
              </a:rPr>
              <a:t>CME is the martingale primary; the basis and its catch-up live on the fixing leg (the swap), not on the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Bound stamped on every row.  </a:t>
            </a:r>
            <a:r>
              <a:rPr sz="1550">
                <a:solidFill>
                  <a:srgbClr val="22262A"/>
                </a:solidFill>
                <a:latin typeface="Calibri"/>
              </a:rPr>
              <a:t>Every backtest trade now records and asserts the causal-bound check.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Martingale guard at every calibration.  </a:t>
            </a:r>
            <a:r>
              <a:rPr sz="1550">
                <a:solidFill>
                  <a:srgbClr val="22262A"/>
                </a:solidFill>
                <a:latin typeface="Calibri"/>
              </a:rPr>
              <a:t>E[dF|b] ≈ 0 is verified on the tradeables before any solve.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Production-trust audit — 7 silent-failure paths closed.  </a:t>
            </a:r>
            <a:r>
              <a:rPr sz="1550">
                <a:solidFill>
                  <a:srgbClr val="22262A"/>
                </a:solidFill>
                <a:latin typeface="Calibri"/>
              </a:rPr>
              <a:t>Fabricated realized tails; silently-random replay on npz typos; NaN-blind flags; non-atomic writes — all now fail 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The strongest trust argument is not that the number is big — it is that we built the machinery to catch it when it was too big, and it worked.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Production-trust audit: commit 0e2bd46. Composed-spot wiring: commit 3008d3c.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Caveats —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What this result is NOT. Said openly, because that is the trust argument.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621024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Caveat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Single seed per trade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Means are stable across full re-runs; month-level dispersion is ±$100/oz.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2-year OOS window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2021 rally + 2022 chop — not yet a full cycle.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Flat half-spread costs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Real CME microstructure friction is not calibrated.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Utility-scale convention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Recently moved to calibration-derived (flagged; explicit override available).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Frictionless benchmarks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By convention; net-of-cost is reported uniformly across tracks.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None of these overturn the headline mean; each is a scoped item for the next phase.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Four steps to move from validated prototype to production sign-off.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291840"/>
        </p:xfrm>
        <a:graphic>
          <a:graphicData uri="http://schemas.openxmlformats.org/drawingml/2006/table">
            <a:tbl>
              <a:tblPr/>
              <a:tblGrid>
                <a:gridCol w="3979834"/>
                <a:gridCol w="7075261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Multi-seed ensembling per trade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Collapse the ±$100/oz month dispersion; ship a mean, not a single draw.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Realistic friction calibration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Replace the flat half-spread with measured CME microstructure friction.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Guard as a hard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Make E[dF|b] ≈ 0 block a calibration, not merely warn.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Longer OOS window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Extend beyond 2021–22 as data accrues; target a full cycle.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The multi-seed step is the single highest-value item: it converts the reproducible mean into a per-trade deliverable.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the identified joint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Five equations and one inequality define the world the policy is solved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11055096" cy="26517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c₁₂(t)   =  ln(F2/F1) / (τ2 − τ1)  −  fwdSOFR                 # carry;  autocorr 0.97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P(t)     =  F1 · exp(−(rf + c)·τ1)                           # CME continuous spot (martingale)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b(t+1)   =  φ·b(t)  +  A·ΔLME  +  η ,     φ ≈ 0.34           # basis AR(1),  σ ≈ 16.5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S(t)     =  P(t)  +  b(t)                                    # observable LBMA fix (composed)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dS(t+1)  =  κ·( P(t) − S(t) )  +  … ,     κ = 0.647 ≈ 1 − φ  # fix catch-up = basis reversion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E[ dF(t+1) | b(t) ]  ≈  0                                    # tradeable martingale guard (|t| 0.7)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The identity κ ≈ 1 − φ is the load-bearing fact: the same daily speed appears in the fix's catch-up and the basis's reversion, so the two-clock law is identified rather than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All coefficients recomputed on data/pl_exp.csv (3,856 daily rows).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DiffSolverV2 pseudo-code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466344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bank: one small MLP per timestep for the position-free continuation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nets = [MLP(in=market_dim+1, hidden=32, out=1) for t in range(T)]   # ~1.4k params each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c    = deal_scale                                                  # utility normaliser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def u(W):                              # asymmetric Huber (a=6, d=1), in c-units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x = W / c;  loss = relu(-x)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pen = where(loss&lt;=d,  a*loss**2,  a*d**2 + 2*a*d*(loss-d))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return x - pen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backward sweep: fit C_t = u(W) + A_t via the Huge-Savine twin loss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for t in reversed(range(T)):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S, W, q_prev = sample_states(t)                        # outer draws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grid = action_grid(q_prev, cap=50, short_only=True)    # mask-aware, cap-pruned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q*   = argmax_a  E_inner[ C_{t+1}(f(S,eps), W + pnl(S,eps,a)) ]   # Bellman max OUTSIDE net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    #      inner expectation via ONE-STEP antithetic MC forks (bootstrap label)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y, dy = bootstrap_value_and_pathwise_grad(t, S, W, q*)  # value + AAD Jacobian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A_t   = fit(nets[t], value=y - u(W), grad=dy)           # twin loss, per-column normalised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clamp A_t to trust region [a_lo, a_hi]                  # kill off-support extrapolation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verdict on a held-out split, then hand back a deployable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assert ladder(hindsight &gt;= greedy &gt;= textbook)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return policy_artifact(nets, standardization_frames, utility_scale, config_hash)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 exactly hedge_bundle._utility_wrap_signed (a=Huber_Aversion, d=Huber_Delta).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calibration → backtest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1055096" cy="40233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for quarter q in walk_forward(2021-01 .. 2022-12):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hist   = archive[: q.calibration_date]            # strictly no lookahead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world  = calibrate(hist)                          # HMM spot P + AR(1) basis 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abs(E[dF | b]) small on every tradeable    # martingale guard, else REJECT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policy = DiffSolverV2.solve(world, aversion=6)     # train in the simulated world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freeze(policy)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for day in q.trading_days:                        # roll on the REALIZED path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m = realized_market[day]                      # strictly causal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a = policy.decide(m, stepper.wealth)          # off the stepper's OWN wealth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stepper.step(a)                               # var margin, financing, expiry, forced-flat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row = record(greedy, nohedge, pf_bound, bound_pass)   # per-trade causal ceiling stamped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row.greedy &lt;= row.pf_bound                     # falsification check on every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 · calibrate_platinum.py. Seed 7, single seed per trade.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reproducibility manifest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headline number in this deck was recomputed from these artifacts.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11680"/>
          <a:ext cx="11055095" cy="4389120"/>
        </p:xfrm>
        <a:graphic>
          <a:graphicData uri="http://schemas.openxmlformats.org/drawingml/2006/table">
            <a:tbl>
              <a:tblPr/>
              <a:tblGrid>
                <a:gridCol w="3979834"/>
                <a:gridCol w="707526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Path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Goal run (Run A)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artifacts/walk_forward/aversion6_24trade_final.csv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Re-verify (Run B)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artifacts/walk_forward/aversion6_reverify_committed_pipeline.csv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Attribution baseline (av 2.5)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la_attribution.csv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Raw data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data/pl_exp.csv  (3,856 rows, 2009–2025)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Shipping config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platinum_hedge_shipping.json  (Huber, aversion 6, δ 1)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Validation notebook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platinum_hedge_validation.ipynb  (11 / 11 cells green)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Test suite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65 tests  (bit-gates: fixture V_0, stepper floats)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7  (single seed per trade)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Commit — goal run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3008d3c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Commit — re-verify pipeline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cfc11da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Commit — production-trust audit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0e2bd46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65 tests collected · notebook 11/11 executed with 0 error outputs · commit hashes verified in git 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